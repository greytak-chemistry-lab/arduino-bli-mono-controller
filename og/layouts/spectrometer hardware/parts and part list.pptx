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317" r:id="rId5"/>
    <p:sldId id="31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 userDrawn="1"/>
        </p:nvSpPr>
        <p:spPr bwMode="auto">
          <a:xfrm>
            <a:off x="10310432" y="6439124"/>
            <a:ext cx="150361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Andrew B.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Greytak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377952" y="6295889"/>
            <a:ext cx="11436096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7" name="Picture 6" descr="USC_Lin_Rev_202_blk.jpg">
            <a:extLst>
              <a:ext uri="{FF2B5EF4-FFF2-40B4-BE49-F238E27FC236}">
                <a16:creationId xmlns:a16="http://schemas.microsoft.com/office/drawing/2014/main" id="{DD8A10AF-209A-459E-847A-4DD6847A50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2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740664"/>
          </a:xfrm>
          <a:prstGeom prst="rect">
            <a:avLst/>
          </a:prstGeom>
          <a:solidFill>
            <a:srgbClr val="A0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52" y="804672"/>
            <a:ext cx="11436096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USC_Lin_Rev_202_blk.jpg">
            <a:extLst>
              <a:ext uri="{FF2B5EF4-FFF2-40B4-BE49-F238E27FC236}">
                <a16:creationId xmlns:a16="http://schemas.microsoft.com/office/drawing/2014/main" id="{DF5A17A6-AFDC-4414-A9F0-194E62A32F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0BD04B8-DA38-405A-923F-9C6FE785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7541" y="6434983"/>
            <a:ext cx="746507" cy="286492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6515D7FE-12F9-4B9E-9F0C-F537A65311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3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740664"/>
          </a:xfrm>
          <a:prstGeom prst="rect">
            <a:avLst/>
          </a:prstGeom>
          <a:solidFill>
            <a:srgbClr val="A0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52" y="146305"/>
            <a:ext cx="11436096" cy="5762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52" y="804672"/>
            <a:ext cx="4498848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5047488" y="804672"/>
            <a:ext cx="676656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USC_Lin_Rev_202_blk.jpg">
            <a:extLst>
              <a:ext uri="{FF2B5EF4-FFF2-40B4-BE49-F238E27FC236}">
                <a16:creationId xmlns:a16="http://schemas.microsoft.com/office/drawing/2014/main" id="{8536D8E3-A8D0-4677-860C-EA341DD7A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32758585-52AB-4C7E-BA0B-211528ED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7541" y="6434983"/>
            <a:ext cx="746507" cy="286492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6515D7FE-12F9-4B9E-9F0C-F537A65311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740664"/>
          </a:xfrm>
          <a:prstGeom prst="rect">
            <a:avLst/>
          </a:prstGeom>
          <a:solidFill>
            <a:srgbClr val="A0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USC_Lin_Rev_202_blk.jpg">
            <a:extLst>
              <a:ext uri="{FF2B5EF4-FFF2-40B4-BE49-F238E27FC236}">
                <a16:creationId xmlns:a16="http://schemas.microsoft.com/office/drawing/2014/main" id="{2F631782-036D-43EB-B277-CC59F1C90A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622C100-D0D7-4489-9235-CB59A101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7541" y="6434983"/>
            <a:ext cx="746507" cy="286492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6515D7FE-12F9-4B9E-9F0C-F537A65311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C_Lin_Rev_202_blk.jpg">
            <a:extLst>
              <a:ext uri="{FF2B5EF4-FFF2-40B4-BE49-F238E27FC236}">
                <a16:creationId xmlns:a16="http://schemas.microsoft.com/office/drawing/2014/main" id="{C0B990BD-E1B2-4BCA-A156-5F6E72E09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9DFE6-6347-490E-A8EB-1150E386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7541" y="6434983"/>
            <a:ext cx="746507" cy="286492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6515D7FE-12F9-4B9E-9F0C-F537A65311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C_Lin_Rev_202_blk.jpg">
            <a:extLst>
              <a:ext uri="{FF2B5EF4-FFF2-40B4-BE49-F238E27FC236}">
                <a16:creationId xmlns:a16="http://schemas.microsoft.com/office/drawing/2014/main" id="{C0B990BD-E1B2-4BCA-A156-5F6E72E09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0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7952" y="146305"/>
            <a:ext cx="1143609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Text Box 12"/>
          <p:cNvSpPr txBox="1">
            <a:spLocks noChangeArrowheads="1"/>
          </p:cNvSpPr>
          <p:nvPr userDrawn="1"/>
        </p:nvSpPr>
        <p:spPr bwMode="auto">
          <a:xfrm>
            <a:off x="1274234" y="5640388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7952" y="804228"/>
            <a:ext cx="11436096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8331" rIns="0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 how does this wrap how does this wrap how does this wrap how does this wrap how does this wrap how does this wrap </a:t>
            </a:r>
          </a:p>
          <a:p>
            <a:pPr lvl="1"/>
            <a:r>
              <a:rPr lang="en-US" dirty="0"/>
              <a:t>Second level how does this level wrap how does this level wrap how does this level wrap how does this level wrap how does this level wrap </a:t>
            </a:r>
          </a:p>
          <a:p>
            <a:pPr lvl="2"/>
            <a:r>
              <a:rPr lang="en-US" dirty="0"/>
              <a:t>Third level how does this level wrap how does this level wrap how does this level wrap </a:t>
            </a:r>
          </a:p>
        </p:txBody>
      </p:sp>
    </p:spTree>
    <p:extLst>
      <p:ext uri="{BB962C8B-B14F-4D97-AF65-F5344CB8AC3E}">
        <p14:creationId xmlns:p14="http://schemas.microsoft.com/office/powerpoint/2010/main" val="24479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350838" indent="-236538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2pPr>
      <a:lvl3pPr marL="688975" indent="-223838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8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reytak-Chemistry-Lab/arduino-bli-mono-controller/LICENSE" TargetMode="Externa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Greytak-Chemistry-Lab/arduino-bli-mono-controller/LICENSE" TargetMode="Externa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Arduino “BLI” monochromator controller – peripheral hardware setup for OBB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CF148-EF5F-1FC9-71FA-7A78D68B0D29}"/>
              </a:ext>
            </a:extLst>
          </p:cNvPr>
          <p:cNvSpPr txBox="1"/>
          <p:nvPr/>
        </p:nvSpPr>
        <p:spPr>
          <a:xfrm>
            <a:off x="5836778" y="6483078"/>
            <a:ext cx="6296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Copyright 2026 Andrew B. Greytak, University of South Carolina – Documentation shared via CC-BY-SA-4.0</a:t>
            </a:r>
          </a:p>
          <a:p>
            <a:r>
              <a:rPr lang="en-US" sz="1000" dirty="0">
                <a:hlinkClick r:id="rId3"/>
              </a:rPr>
              <a:t>https://github.com/Greytak-Chemistry-Lab/arduino-bli-mono-controller/LICENSE</a:t>
            </a:r>
            <a:r>
              <a:rPr lang="en-US" sz="1000" dirty="0"/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A7AD0-CD15-0C05-E3D4-0BDE1F01D9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" r="23971" b="7373"/>
          <a:stretch>
            <a:fillRect/>
          </a:stretch>
        </p:blipFill>
        <p:spPr>
          <a:xfrm>
            <a:off x="6300088" y="1766428"/>
            <a:ext cx="4995515" cy="45576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F77AFC-133A-15E0-D2B2-8363518C8B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" t="2830" r="10628" b="6484"/>
          <a:stretch>
            <a:fillRect/>
          </a:stretch>
        </p:blipFill>
        <p:spPr>
          <a:xfrm>
            <a:off x="377952" y="1766428"/>
            <a:ext cx="5800128" cy="45583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13FD69-D498-D81C-6138-B87D2E15E6C6}"/>
              </a:ext>
            </a:extLst>
          </p:cNvPr>
          <p:cNvSpPr txBox="1"/>
          <p:nvPr/>
        </p:nvSpPr>
        <p:spPr>
          <a:xfrm>
            <a:off x="300246" y="1100511"/>
            <a:ext cx="534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professionally-built setup with NEMA-23 stepper motor. Includes shutter solenoid (H-1079-032 1208, probably 12V) and optical limit switch.</a:t>
            </a:r>
          </a:p>
          <a:p>
            <a:r>
              <a:rPr lang="en-US" sz="1200" dirty="0"/>
              <a:t>Motor part number: Kollmorgen P21NRXS-LNN-NS-17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5E007-D782-D59A-B90B-315A55912A4D}"/>
              </a:ext>
            </a:extLst>
          </p:cNvPr>
          <p:cNvSpPr txBox="1"/>
          <p:nvPr/>
        </p:nvSpPr>
        <p:spPr>
          <a:xfrm>
            <a:off x="6178080" y="1120097"/>
            <a:ext cx="602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Our home-modified setup with NEMA-17 1.5Amp stepper motor (</a:t>
            </a:r>
            <a:r>
              <a:rPr lang="en-US" sz="1200" dirty="0" err="1"/>
              <a:t>Twotrees</a:t>
            </a:r>
            <a:r>
              <a:rPr lang="en-US" sz="1200" dirty="0"/>
              <a:t>). </a:t>
            </a:r>
            <a:br>
              <a:rPr lang="en-US" sz="1200" dirty="0"/>
            </a:br>
            <a:r>
              <a:rPr lang="en-US" sz="1200" dirty="0"/>
              <a:t>Employs mechanical limit switch (WELWIK 3-pin end stop switch for 3D printers).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B2449-766B-A8C8-DAD8-D509A14EAEB9}"/>
              </a:ext>
            </a:extLst>
          </p:cNvPr>
          <p:cNvSpPr txBox="1"/>
          <p:nvPr/>
        </p:nvSpPr>
        <p:spPr>
          <a:xfrm>
            <a:off x="300246" y="750765"/>
            <a:ext cx="8071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Repurposed Optical Building Blocks (OBB) monochromators (table is 1” grid)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AA7DC7-8CBB-4E31-E727-8012D5A86D39}"/>
              </a:ext>
            </a:extLst>
          </p:cNvPr>
          <p:cNvCxnSpPr/>
          <p:nvPr/>
        </p:nvCxnSpPr>
        <p:spPr>
          <a:xfrm>
            <a:off x="7966553" y="5073041"/>
            <a:ext cx="0" cy="450937"/>
          </a:xfrm>
          <a:prstGeom prst="straightConnector1">
            <a:avLst/>
          </a:prstGeom>
          <a:ln w="28575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3E1C50D-DA9B-4BE0-6713-C9E4C862BEBB}"/>
              </a:ext>
            </a:extLst>
          </p:cNvPr>
          <p:cNvSpPr txBox="1"/>
          <p:nvPr/>
        </p:nvSpPr>
        <p:spPr>
          <a:xfrm>
            <a:off x="7838042" y="5523978"/>
            <a:ext cx="164091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3D printed adapters for paddle and switch mount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7134C5-4BBF-1296-D3B4-056B71B68DB9}"/>
              </a:ext>
            </a:extLst>
          </p:cNvPr>
          <p:cNvCxnSpPr/>
          <p:nvPr/>
        </p:nvCxnSpPr>
        <p:spPr>
          <a:xfrm>
            <a:off x="8371686" y="5073041"/>
            <a:ext cx="0" cy="450937"/>
          </a:xfrm>
          <a:prstGeom prst="straightConnector1">
            <a:avLst/>
          </a:prstGeom>
          <a:ln w="28575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EC47AA-579D-3E5B-18D4-2A3E619360CA}"/>
              </a:ext>
            </a:extLst>
          </p:cNvPr>
          <p:cNvSpPr txBox="1"/>
          <p:nvPr/>
        </p:nvSpPr>
        <p:spPr>
          <a:xfrm>
            <a:off x="9931977" y="3228945"/>
            <a:ext cx="12287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3D printed adapter for motor mount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540B0B-0F36-B410-6DD4-60C618CE68AA}"/>
              </a:ext>
            </a:extLst>
          </p:cNvPr>
          <p:cNvCxnSpPr/>
          <p:nvPr/>
        </p:nvCxnSpPr>
        <p:spPr>
          <a:xfrm>
            <a:off x="10033348" y="3629055"/>
            <a:ext cx="0" cy="46695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761EC8-9231-7C18-7896-5917AB22F7E7}"/>
              </a:ext>
            </a:extLst>
          </p:cNvPr>
          <p:cNvCxnSpPr>
            <a:cxnSpLocks/>
          </p:cNvCxnSpPr>
          <p:nvPr/>
        </p:nvCxnSpPr>
        <p:spPr>
          <a:xfrm flipV="1">
            <a:off x="9522917" y="2335210"/>
            <a:ext cx="0" cy="1948692"/>
          </a:xfrm>
          <a:prstGeom prst="straightConnector1">
            <a:avLst/>
          </a:prstGeom>
          <a:ln w="28575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0E9FE32-68C5-EC8D-476A-8A90D8A877DB}"/>
              </a:ext>
            </a:extLst>
          </p:cNvPr>
          <p:cNvSpPr txBox="1"/>
          <p:nvPr/>
        </p:nvSpPr>
        <p:spPr>
          <a:xfrm>
            <a:off x="8985235" y="1935100"/>
            <a:ext cx="193745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reducing flexible shaft coupler</a:t>
            </a:r>
            <a:br>
              <a:rPr lang="en-US" sz="1000" dirty="0"/>
            </a:br>
            <a:r>
              <a:rPr lang="en-US" sz="1000" dirty="0"/>
              <a:t>6.35 mm (1/4 inch) to 5 mm</a:t>
            </a:r>
          </a:p>
        </p:txBody>
      </p:sp>
    </p:spTree>
    <p:extLst>
      <p:ext uri="{BB962C8B-B14F-4D97-AF65-F5344CB8AC3E}">
        <p14:creationId xmlns:p14="http://schemas.microsoft.com/office/powerpoint/2010/main" val="1050793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A8A3A0-06CF-2201-5782-161200919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654" y="3815679"/>
            <a:ext cx="2672759" cy="2430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982EF7-F433-BC33-EC61-E6D2192E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078" y="3897974"/>
            <a:ext cx="2672759" cy="2195481"/>
          </a:xfrm>
          <a:prstGeom prst="rect">
            <a:avLst/>
          </a:prstGeom>
        </p:spPr>
      </p:pic>
      <p:pic>
        <p:nvPicPr>
          <p:cNvPr id="1026" name="EFAAFEB6-86FD-40D6-81C5-903BF265ABAE" descr="IMG_2349.JPG">
            <a:extLst>
              <a:ext uri="{FF2B5EF4-FFF2-40B4-BE49-F238E27FC236}">
                <a16:creationId xmlns:a16="http://schemas.microsoft.com/office/drawing/2014/main" id="{CBE42AA1-0C3B-8100-8E1C-063A6C75C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0" b="30648"/>
          <a:stretch>
            <a:fillRect/>
          </a:stretch>
        </p:blipFill>
        <p:spPr bwMode="auto">
          <a:xfrm>
            <a:off x="3451497" y="4041429"/>
            <a:ext cx="2628900" cy="205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5B86C2-457E-0D42-2979-BA308A26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list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539453-E2DC-FE22-81EA-F5D8094608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671408"/>
              </p:ext>
            </p:extLst>
          </p:nvPr>
        </p:nvGraphicFramePr>
        <p:xfrm>
          <a:off x="377825" y="804864"/>
          <a:ext cx="11436348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116">
                  <a:extLst>
                    <a:ext uri="{9D8B030D-6E8A-4147-A177-3AD203B41FA5}">
                      <a16:colId xmlns:a16="http://schemas.microsoft.com/office/drawing/2014/main" val="2935683694"/>
                    </a:ext>
                  </a:extLst>
                </a:gridCol>
                <a:gridCol w="4039659">
                  <a:extLst>
                    <a:ext uri="{9D8B030D-6E8A-4147-A177-3AD203B41FA5}">
                      <a16:colId xmlns:a16="http://schemas.microsoft.com/office/drawing/2014/main" val="2718785358"/>
                    </a:ext>
                  </a:extLst>
                </a:gridCol>
                <a:gridCol w="3584573">
                  <a:extLst>
                    <a:ext uri="{9D8B030D-6E8A-4147-A177-3AD203B41FA5}">
                      <a16:colId xmlns:a16="http://schemas.microsoft.com/office/drawing/2014/main" val="2626521771"/>
                    </a:ext>
                  </a:extLst>
                </a:gridCol>
              </a:tblGrid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Part Number / 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68405"/>
                  </a:ext>
                </a:extLst>
              </a:tr>
              <a:tr h="240051">
                <a:tc>
                  <a:txBody>
                    <a:bodyPr/>
                    <a:lstStyle/>
                    <a:p>
                      <a:r>
                        <a:rPr lang="en-US" sz="1000" dirty="0"/>
                        <a:t>Stepper motor NEMA-17 1.5 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17HS4401 / </a:t>
                      </a:r>
                      <a:r>
                        <a:rPr lang="en-US" sz="1000" dirty="0" err="1"/>
                        <a:t>Twotrees</a:t>
                      </a:r>
                      <a:r>
                        <a:rPr lang="en-US" sz="1000" dirty="0"/>
                        <a:t> (Amazon)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longer available from this vendor, but part# is 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43603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Limit switch (3-pin end stop switch)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WELWIK (Amazon)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762549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Limit switch cable (1M XH2.54 3PIN Cable </a:t>
                      </a:r>
                      <a:r>
                        <a:rPr lang="en-US" sz="1000" dirty="0" err="1"/>
                        <a:t>Endstop</a:t>
                      </a:r>
                      <a:r>
                        <a:rPr lang="en-US" sz="1000" dirty="0"/>
                        <a:t> Switch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GRGRG (Amazon)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XH2.54 male/male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462468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Stepper motor cable 4pin to 6pin, 1.5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TIEXYE (Amazon) (Compatible with NEMA 17 for Ender 3 printer)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XH2.54 mm 4pin male / PH 2.0 6pin male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17931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6.35mm (1/4”) shaft coupler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Twidec</a:t>
                      </a:r>
                      <a:r>
                        <a:rPr lang="en-US" sz="1000" dirty="0"/>
                        <a:t> 6.35 mm rigid coupler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Blue aluminum part in photo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25277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Flexible reducing coupler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Xnrtop</a:t>
                      </a:r>
                      <a:r>
                        <a:rPr lang="en-US" sz="1000" dirty="0"/>
                        <a:t> 5mm to 6.35 mm 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75338"/>
                  </a:ext>
                </a:extLst>
              </a:tr>
              <a:tr h="241750">
                <a:tc>
                  <a:txBody>
                    <a:bodyPr/>
                    <a:lstStyle/>
                    <a:p>
                      <a:r>
                        <a:rPr lang="en-US" sz="1000" dirty="0"/>
                        <a:t>Limit switch paddle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Gryphon Drake designs “IR spectrometer limit switch” assembly</a:t>
                      </a:r>
                    </a:p>
                    <a:p>
                      <a:r>
                        <a:rPr lang="en-US" sz="1000" dirty="0"/>
                        <a:t>(Accessible on Greytak Chemistry Lab </a:t>
                      </a:r>
                      <a:r>
                        <a:rPr lang="en-US" sz="1000" dirty="0" err="1"/>
                        <a:t>Onshape</a:t>
                      </a:r>
                      <a:r>
                        <a:rPr lang="en-US" sz="1000" dirty="0"/>
                        <a:t> space)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Attaches to moving 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141590"/>
                  </a:ext>
                </a:extLst>
              </a:tr>
              <a:tr h="241750">
                <a:tc>
                  <a:txBody>
                    <a:bodyPr/>
                    <a:lstStyle/>
                    <a:p>
                      <a:r>
                        <a:rPr lang="en-US" sz="1000" dirty="0"/>
                        <a:t>Limit switch 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Gryphon Drake designs “IR spectrometer limit switch”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Bolts to instrument floor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22617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Motor 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GDD “spectrometer motor bracket”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456646"/>
                  </a:ext>
                </a:extLst>
              </a:tr>
              <a:tr h="241750">
                <a:tc>
                  <a:txBody>
                    <a:bodyPr/>
                    <a:lstStyle/>
                    <a:p>
                      <a:r>
                        <a:rPr lang="en-US" sz="1000" dirty="0"/>
                        <a:t>Grating 50x50x6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Newport </a:t>
                      </a: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33010FL01-520R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For NIR: 600 lines/mm blazed 1.02 um, blaze angle 17.46 degrees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54819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F02F4F-EC22-4CE3-381A-154126AE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D7FE-12F9-4B9E-9F0C-F537A65311A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951D1-74A0-D417-5957-44EA163750C3}"/>
              </a:ext>
            </a:extLst>
          </p:cNvPr>
          <p:cNvSpPr txBox="1"/>
          <p:nvPr/>
        </p:nvSpPr>
        <p:spPr>
          <a:xfrm>
            <a:off x="4471793" y="6290758"/>
            <a:ext cx="71733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3D designs copyright 2024 Gryphon A. Drake</a:t>
            </a:r>
          </a:p>
          <a:p>
            <a:r>
              <a:rPr lang="en-US" sz="1000" dirty="0"/>
              <a:t>Documentation Copyright 2026 Andrew B. Greytak, University of South Carolina – Documentation shared via CC-BY-SA-4.0</a:t>
            </a:r>
          </a:p>
          <a:p>
            <a:r>
              <a:rPr lang="en-US" sz="1000" dirty="0">
                <a:hlinkClick r:id="rId5"/>
              </a:rPr>
              <a:t>https://github.com/Greytak-Chemistry-Lab/arduino-bli-mono-controller/LICENSE</a:t>
            </a:r>
            <a:r>
              <a:rPr lang="en-US" sz="1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79871705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garnet top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03232"/>
      </a:accent1>
      <a:accent2>
        <a:srgbClr val="DC0000"/>
      </a:accent2>
      <a:accent3>
        <a:srgbClr val="FF0000"/>
      </a:accent3>
      <a:accent4>
        <a:srgbClr val="3333CC"/>
      </a:accent4>
      <a:accent5>
        <a:srgbClr val="009100"/>
      </a:accent5>
      <a:accent6>
        <a:srgbClr val="19E619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000000"/>
    </a:dk2>
    <a:lt2>
      <a:srgbClr val="808080"/>
    </a:lt2>
    <a:accent1>
      <a:srgbClr val="A03232"/>
    </a:accent1>
    <a:accent2>
      <a:srgbClr val="DC0000"/>
    </a:accent2>
    <a:accent3>
      <a:srgbClr val="FF0000"/>
    </a:accent3>
    <a:accent4>
      <a:srgbClr val="3333CC"/>
    </a:accent4>
    <a:accent5>
      <a:srgbClr val="009100"/>
    </a:accent5>
    <a:accent6>
      <a:srgbClr val="19E619"/>
    </a:accent6>
    <a:hlink>
      <a:srgbClr val="009999"/>
    </a:hlink>
    <a:folHlink>
      <a:srgbClr val="99CC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ECEE844703BA4190C49DA8BC829728" ma:contentTypeVersion="4" ma:contentTypeDescription="Create a new document." ma:contentTypeScope="" ma:versionID="da633761d8a18fa779bcda5bc79afac4">
  <xsd:schema xmlns:xsd="http://www.w3.org/2001/XMLSchema" xmlns:xs="http://www.w3.org/2001/XMLSchema" xmlns:p="http://schemas.microsoft.com/office/2006/metadata/properties" xmlns:ns3="2bd4e6e1-2c8d-49cd-9bbc-672eee709708" targetNamespace="http://schemas.microsoft.com/office/2006/metadata/properties" ma:root="true" ma:fieldsID="536f4b1386eee13875ad531dd634fe92" ns3:_="">
    <xsd:import namespace="2bd4e6e1-2c8d-49cd-9bbc-672eee7097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4e6e1-2c8d-49cd-9bbc-672eee7097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1B2891-B75C-4240-B385-255435C39F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4e6e1-2c8d-49cd-9bbc-672eee7097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0E565E-B67D-4279-ADB5-47ED6CE6BF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DF747F-86F1-4A20-AE37-438D55E3287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2bd4e6e1-2c8d-49cd-9bbc-672eee709708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365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white garnet top</vt:lpstr>
      <vt:lpstr>Arduino “BLI” monochromator controller – peripheral hardware setup for OBB</vt:lpstr>
      <vt:lpstr>Parts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the Arduino-powered spin coater in the Greytak lab (similar one in Stefik lab)</dc:title>
  <dc:creator>Greytak, Andrew</dc:creator>
  <cp:lastModifiedBy>Greytak, Andrew</cp:lastModifiedBy>
  <cp:revision>22</cp:revision>
  <dcterms:created xsi:type="dcterms:W3CDTF">2022-06-13T20:24:43Z</dcterms:created>
  <dcterms:modified xsi:type="dcterms:W3CDTF">2026-09-27T18:46:31Z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0x010100AEECEE844703BA4190C49DA8BC829728</vt:lpwstr>
  </property>
</Properties>
</file>