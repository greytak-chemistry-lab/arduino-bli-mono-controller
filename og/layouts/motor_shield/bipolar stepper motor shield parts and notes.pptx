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317" r:id="rId5"/>
    <p:sldId id="31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/>
          <p:cNvSpPr txBox="1">
            <a:spLocks noChangeArrowheads="1"/>
          </p:cNvSpPr>
          <p:nvPr userDrawn="1"/>
        </p:nvSpPr>
        <p:spPr bwMode="auto">
          <a:xfrm>
            <a:off x="10310432" y="6439124"/>
            <a:ext cx="150361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rIns="0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Andrew B.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Greytak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377952" y="6295889"/>
            <a:ext cx="11436096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7" name="Picture 6" descr="USC_Lin_Rev_202_blk.jpg">
            <a:extLst>
              <a:ext uri="{FF2B5EF4-FFF2-40B4-BE49-F238E27FC236}">
                <a16:creationId xmlns:a16="http://schemas.microsoft.com/office/drawing/2014/main" id="{DD8A10AF-209A-459E-847A-4DD6847A50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77951" y="6356350"/>
            <a:ext cx="1823982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626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740664"/>
          </a:xfrm>
          <a:prstGeom prst="rect">
            <a:avLst/>
          </a:prstGeom>
          <a:solidFill>
            <a:srgbClr val="A0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952" y="804672"/>
            <a:ext cx="11436096" cy="5486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Picture 5" descr="USC_Lin_Rev_202_blk.jpg">
            <a:extLst>
              <a:ext uri="{FF2B5EF4-FFF2-40B4-BE49-F238E27FC236}">
                <a16:creationId xmlns:a16="http://schemas.microsoft.com/office/drawing/2014/main" id="{DF5A17A6-AFDC-4414-A9F0-194E62A32F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77951" y="6356350"/>
            <a:ext cx="1823982" cy="365125"/>
          </a:xfrm>
          <a:prstGeom prst="rect">
            <a:avLst/>
          </a:prstGeom>
        </p:spPr>
      </p:pic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00BD04B8-DA38-405A-923F-9C6FE7859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7541" y="6434983"/>
            <a:ext cx="746507" cy="286492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6515D7FE-12F9-4B9E-9F0C-F537A65311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33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740664"/>
          </a:xfrm>
          <a:prstGeom prst="rect">
            <a:avLst/>
          </a:prstGeom>
          <a:solidFill>
            <a:srgbClr val="A0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52" y="146305"/>
            <a:ext cx="11436096" cy="5762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952" y="804672"/>
            <a:ext cx="4498848" cy="5486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/>
          </p:nvPr>
        </p:nvSpPr>
        <p:spPr>
          <a:xfrm>
            <a:off x="5047488" y="804672"/>
            <a:ext cx="676656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USC_Lin_Rev_202_blk.jpg">
            <a:extLst>
              <a:ext uri="{FF2B5EF4-FFF2-40B4-BE49-F238E27FC236}">
                <a16:creationId xmlns:a16="http://schemas.microsoft.com/office/drawing/2014/main" id="{8536D8E3-A8D0-4677-860C-EA341DD7A1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77951" y="6356350"/>
            <a:ext cx="1823982" cy="365125"/>
          </a:xfrm>
          <a:prstGeom prst="rect">
            <a:avLst/>
          </a:prstGeom>
        </p:spPr>
      </p:pic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32758585-52AB-4C7E-BA0B-211528EDE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7541" y="6434983"/>
            <a:ext cx="746507" cy="286492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6515D7FE-12F9-4B9E-9F0C-F537A65311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922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740664"/>
          </a:xfrm>
          <a:prstGeom prst="rect">
            <a:avLst/>
          </a:prstGeom>
          <a:solidFill>
            <a:srgbClr val="A0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USC_Lin_Rev_202_blk.jpg">
            <a:extLst>
              <a:ext uri="{FF2B5EF4-FFF2-40B4-BE49-F238E27FC236}">
                <a16:creationId xmlns:a16="http://schemas.microsoft.com/office/drawing/2014/main" id="{2F631782-036D-43EB-B277-CC59F1C90A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77951" y="6356350"/>
            <a:ext cx="1823982" cy="365125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1622C100-D0D7-4489-9235-CB59A101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7541" y="6434983"/>
            <a:ext cx="746507" cy="286492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6515D7FE-12F9-4B9E-9F0C-F537A65311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416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SC_Lin_Rev_202_blk.jpg">
            <a:extLst>
              <a:ext uri="{FF2B5EF4-FFF2-40B4-BE49-F238E27FC236}">
                <a16:creationId xmlns:a16="http://schemas.microsoft.com/office/drawing/2014/main" id="{C0B990BD-E1B2-4BCA-A156-5F6E72E093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77951" y="6356350"/>
            <a:ext cx="1823982" cy="36512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9DFE6-6347-490E-A8EB-1150E3866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7541" y="6434983"/>
            <a:ext cx="746507" cy="286492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6515D7FE-12F9-4B9E-9F0C-F537A65311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323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no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SC_Lin_Rev_202_blk.jpg">
            <a:extLst>
              <a:ext uri="{FF2B5EF4-FFF2-40B4-BE49-F238E27FC236}">
                <a16:creationId xmlns:a16="http://schemas.microsoft.com/office/drawing/2014/main" id="{C0B990BD-E1B2-4BCA-A156-5F6E72E093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77951" y="6356350"/>
            <a:ext cx="1823982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508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7952" y="146305"/>
            <a:ext cx="11436096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6" name="Text Box 12"/>
          <p:cNvSpPr txBox="1">
            <a:spLocks noChangeArrowheads="1"/>
          </p:cNvSpPr>
          <p:nvPr userDrawn="1"/>
        </p:nvSpPr>
        <p:spPr bwMode="auto">
          <a:xfrm>
            <a:off x="1274234" y="5640388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044" name="Rectangle 2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7952" y="804228"/>
            <a:ext cx="11436096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8331" rIns="0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 how does this wrap how does this wrap how does this wrap how does this wrap how does this wrap how does this wrap </a:t>
            </a:r>
          </a:p>
          <a:p>
            <a:pPr lvl="1"/>
            <a:r>
              <a:rPr lang="en-US" dirty="0"/>
              <a:t>Second level how does this level wrap how does this level wrap how does this level wrap how does this level wrap how does this level wrap </a:t>
            </a:r>
          </a:p>
          <a:p>
            <a:pPr lvl="2"/>
            <a:r>
              <a:rPr lang="en-US" dirty="0"/>
              <a:t>Third level how does this level wrap how does this level wrap how does this level wrap </a:t>
            </a:r>
          </a:p>
        </p:txBody>
      </p:sp>
    </p:spTree>
    <p:extLst>
      <p:ext uri="{BB962C8B-B14F-4D97-AF65-F5344CB8AC3E}">
        <p14:creationId xmlns:p14="http://schemas.microsoft.com/office/powerpoint/2010/main" val="24479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algn="l" rtl="0" fontAlgn="base">
        <a:spcBef>
          <a:spcPct val="2000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350838" indent="-236538" algn="l" rtl="0" fontAlgn="base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</a:defRPr>
      </a:lvl2pPr>
      <a:lvl3pPr marL="688975" indent="-223838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8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reytak-Chemistry-Lab/arduino-bli-mono-controller/LICENSE" TargetMode="Externa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reytak-Chemistry-Lab/arduino-bli-mono-controller/LICENS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Arduino “BLI” DRV8825 </a:t>
            </a:r>
            <a:r>
              <a:rPr lang="en-US" dirty="0" err="1"/>
              <a:t>biopolar</a:t>
            </a:r>
            <a:r>
              <a:rPr lang="en-US" dirty="0"/>
              <a:t> stepper motor driver shield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7CF148-EF5F-1FC9-71FA-7A78D68B0D29}"/>
              </a:ext>
            </a:extLst>
          </p:cNvPr>
          <p:cNvSpPr txBox="1"/>
          <p:nvPr/>
        </p:nvSpPr>
        <p:spPr>
          <a:xfrm>
            <a:off x="5836778" y="6483078"/>
            <a:ext cx="62969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Copyright 2026 Andrew B. Greytak, University of South Carolina – Documentation shared via CC-BY-SA-4.0</a:t>
            </a:r>
          </a:p>
          <a:p>
            <a:r>
              <a:rPr lang="en-US" sz="1000" dirty="0">
                <a:hlinkClick r:id="rId3"/>
              </a:rPr>
              <a:t>https://github.com/Greytak-Chemistry-Lab/arduino-bli-mono-controller/LICENSE</a:t>
            </a:r>
            <a:r>
              <a:rPr lang="en-US" sz="1000" dirty="0"/>
              <a:t>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15E007-D782-D59A-B90B-315A55912A4D}"/>
              </a:ext>
            </a:extLst>
          </p:cNvPr>
          <p:cNvSpPr txBox="1"/>
          <p:nvPr/>
        </p:nvSpPr>
        <p:spPr>
          <a:xfrm>
            <a:off x="300246" y="1120097"/>
            <a:ext cx="103468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Tested with a NEMA 17 bipolar stepper motor (1.5A max current) and 8:1 </a:t>
            </a:r>
            <a:r>
              <a:rPr lang="en-US" sz="1200" dirty="0" err="1"/>
              <a:t>microstepping</a:t>
            </a:r>
            <a:r>
              <a:rPr lang="en-US" sz="1200" dirty="0"/>
              <a:t>.  Board should support up to 2A with adequate cooling.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5B2449-766B-A8C8-DAD8-D509A14EAEB9}"/>
              </a:ext>
            </a:extLst>
          </p:cNvPr>
          <p:cNvSpPr txBox="1"/>
          <p:nvPr/>
        </p:nvSpPr>
        <p:spPr>
          <a:xfrm>
            <a:off x="300246" y="750765"/>
            <a:ext cx="5968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Uses Arduino </a:t>
            </a:r>
            <a:r>
              <a:rPr lang="en-US" dirty="0" err="1"/>
              <a:t>Protoshield</a:t>
            </a:r>
            <a:r>
              <a:rPr lang="en-US" dirty="0"/>
              <a:t> (v6 shown in Fritzing drawing)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E5B216-BEB3-8F32-0E31-6A4C7FD93B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99" r="16419"/>
          <a:stretch>
            <a:fillRect/>
          </a:stretch>
        </p:blipFill>
        <p:spPr>
          <a:xfrm>
            <a:off x="6718945" y="1883818"/>
            <a:ext cx="5095103" cy="346563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7862FB8-41F1-8013-DD3C-73A65D2B0102}"/>
              </a:ext>
            </a:extLst>
          </p:cNvPr>
          <p:cNvSpPr txBox="1"/>
          <p:nvPr/>
        </p:nvSpPr>
        <p:spPr>
          <a:xfrm>
            <a:off x="6649123" y="5408440"/>
            <a:ext cx="49637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SLP (sleep) and RES (reset) are pulled high with jumpers in this prototype but can be soldered to 5V as indicated in the drawing.</a:t>
            </a:r>
          </a:p>
          <a:p>
            <a:endParaRPr lang="en-US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864C35-1F32-318F-FAC7-77AAB64D36BE}"/>
              </a:ext>
            </a:extLst>
          </p:cNvPr>
          <p:cNvSpPr txBox="1"/>
          <p:nvPr/>
        </p:nvSpPr>
        <p:spPr>
          <a:xfrm>
            <a:off x="300246" y="5300718"/>
            <a:ext cx="49637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Control signals: </a:t>
            </a:r>
          </a:p>
          <a:p>
            <a:r>
              <a:rPr lang="en-US" sz="1000" dirty="0"/>
              <a:t>DIR: Arduino pin 8</a:t>
            </a:r>
          </a:p>
          <a:p>
            <a:r>
              <a:rPr lang="en-US" sz="1000" dirty="0"/>
              <a:t>STP (step): Arduino pin 9</a:t>
            </a:r>
          </a:p>
          <a:p>
            <a:r>
              <a:rPr lang="en-US" sz="1000" dirty="0"/>
              <a:t>MS1: Arduino pin 10 (</a:t>
            </a:r>
            <a:r>
              <a:rPr lang="en-US" sz="1000" dirty="0" err="1"/>
              <a:t>microstepping</a:t>
            </a:r>
            <a:r>
              <a:rPr lang="en-US" sz="1000" dirty="0"/>
              <a:t> bits)</a:t>
            </a:r>
          </a:p>
          <a:p>
            <a:r>
              <a:rPr lang="en-US" sz="1000" dirty="0"/>
              <a:t>MS2: Arduino pin 11</a:t>
            </a:r>
          </a:p>
          <a:p>
            <a:r>
              <a:rPr lang="en-US" sz="1000" dirty="0"/>
              <a:t>MS3: Arduino pin 12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5489E52-0986-D672-5F68-3D45B427581F}"/>
              </a:ext>
            </a:extLst>
          </p:cNvPr>
          <p:cNvGrpSpPr/>
          <p:nvPr/>
        </p:nvGrpSpPr>
        <p:grpSpPr>
          <a:xfrm>
            <a:off x="1548030" y="1883818"/>
            <a:ext cx="4720581" cy="3746995"/>
            <a:chOff x="1548030" y="1883818"/>
            <a:chExt cx="4720581" cy="374699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6B8D63D-E515-B97E-9350-F3BDA7B2B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3707" y="1883818"/>
              <a:ext cx="4294904" cy="3746995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10DEFF4-941C-4B75-C9AB-AA6433F54B58}"/>
                </a:ext>
              </a:extLst>
            </p:cNvPr>
            <p:cNvSpPr txBox="1"/>
            <p:nvPr/>
          </p:nvSpPr>
          <p:spPr>
            <a:xfrm>
              <a:off x="1633549" y="3995528"/>
              <a:ext cx="34015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1B</a:t>
              </a:r>
            </a:p>
            <a:p>
              <a:r>
                <a:rPr lang="en-US" sz="1000" dirty="0"/>
                <a:t>1A</a:t>
              </a:r>
            </a:p>
            <a:p>
              <a:r>
                <a:rPr lang="en-US" sz="1000" dirty="0"/>
                <a:t>2A</a:t>
              </a:r>
            </a:p>
            <a:p>
              <a:r>
                <a:rPr lang="en-US" sz="1000" dirty="0"/>
                <a:t>2B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B61236D-9702-71CC-1F75-615249CD7A1D}"/>
                </a:ext>
              </a:extLst>
            </p:cNvPr>
            <p:cNvSpPr txBox="1"/>
            <p:nvPr/>
          </p:nvSpPr>
          <p:spPr>
            <a:xfrm>
              <a:off x="1548030" y="3348782"/>
              <a:ext cx="47000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NO</a:t>
              </a:r>
            </a:p>
            <a:p>
              <a:r>
                <a:rPr lang="en-US" sz="1000" dirty="0"/>
                <a:t>GND</a:t>
              </a:r>
            </a:p>
            <a:p>
              <a:r>
                <a:rPr lang="en-US" sz="1000" dirty="0"/>
                <a:t>NC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0793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B86C2-457E-0D42-2979-BA308A261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Parts list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D539453-E2DC-FE22-81EA-F5D8094608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0578312"/>
              </p:ext>
            </p:extLst>
          </p:nvPr>
        </p:nvGraphicFramePr>
        <p:xfrm>
          <a:off x="377825" y="804864"/>
          <a:ext cx="11436348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2116">
                  <a:extLst>
                    <a:ext uri="{9D8B030D-6E8A-4147-A177-3AD203B41FA5}">
                      <a16:colId xmlns:a16="http://schemas.microsoft.com/office/drawing/2014/main" val="2935683694"/>
                    </a:ext>
                  </a:extLst>
                </a:gridCol>
                <a:gridCol w="4039659">
                  <a:extLst>
                    <a:ext uri="{9D8B030D-6E8A-4147-A177-3AD203B41FA5}">
                      <a16:colId xmlns:a16="http://schemas.microsoft.com/office/drawing/2014/main" val="2718785358"/>
                    </a:ext>
                  </a:extLst>
                </a:gridCol>
                <a:gridCol w="3584573">
                  <a:extLst>
                    <a:ext uri="{9D8B030D-6E8A-4147-A177-3AD203B41FA5}">
                      <a16:colId xmlns:a16="http://schemas.microsoft.com/office/drawing/2014/main" val="2626521771"/>
                    </a:ext>
                  </a:extLst>
                </a:gridCol>
              </a:tblGrid>
              <a:tr h="142206">
                <a:tc>
                  <a:txBody>
                    <a:bodyPr/>
                    <a:lstStyle/>
                    <a:p>
                      <a:r>
                        <a:rPr lang="en-US" sz="1000" dirty="0"/>
                        <a:t>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Part Number / 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68405"/>
                  </a:ext>
                </a:extLst>
              </a:tr>
              <a:tr h="240051">
                <a:tc>
                  <a:txBody>
                    <a:bodyPr/>
                    <a:lstStyle/>
                    <a:p>
                      <a:r>
                        <a:rPr lang="en-US" sz="1000" dirty="0"/>
                        <a:t>DRV8825 stepper motor breakout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Stepper Motor Driver Module for 3D Printer Stepper Driver 4-Layer PCB Board (Amazon/”EC Buying”, purchased as 5 pack w/ heatsinks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843603"/>
                  </a:ext>
                </a:extLst>
              </a:tr>
              <a:tr h="142206">
                <a:tc>
                  <a:txBody>
                    <a:bodyPr/>
                    <a:lstStyle/>
                    <a:p>
                      <a:r>
                        <a:rPr lang="en-US" sz="1000" dirty="0"/>
                        <a:t>Limit switch (3-pin end stop switch)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WELWIK (Amazon)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762549"/>
                  </a:ext>
                </a:extLst>
              </a:tr>
              <a:tr h="142206">
                <a:tc>
                  <a:txBody>
                    <a:bodyPr/>
                    <a:lstStyle/>
                    <a:p>
                      <a:r>
                        <a:rPr lang="en-US" sz="1000" dirty="0"/>
                        <a:t>Limit switch cable (1M XH2.54 3PIN Cable </a:t>
                      </a:r>
                      <a:r>
                        <a:rPr lang="en-US" sz="1000" dirty="0" err="1"/>
                        <a:t>Endstop</a:t>
                      </a:r>
                      <a:r>
                        <a:rPr lang="en-US" sz="1000" dirty="0"/>
                        <a:t> Switch Wire)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GRGRG (Amazon)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XH2.54 male/male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462468"/>
                  </a:ext>
                </a:extLst>
              </a:tr>
              <a:tr h="142206">
                <a:tc>
                  <a:txBody>
                    <a:bodyPr/>
                    <a:lstStyle/>
                    <a:p>
                      <a:r>
                        <a:rPr lang="en-US" sz="1000" dirty="0"/>
                        <a:t>Stepper motor cable 4pin to 6pin, 1.5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TIEXYE (Amazon) (Compatible with NEMA 17 for Ender 3 printer)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XH2.54 mm 4pin male / PH 2.0 6pin male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617931"/>
                  </a:ext>
                </a:extLst>
              </a:tr>
              <a:tr h="142206">
                <a:tc>
                  <a:txBody>
                    <a:bodyPr/>
                    <a:lstStyle/>
                    <a:p>
                      <a:r>
                        <a:rPr lang="en-US" sz="1000" dirty="0"/>
                        <a:t>100 microfarad electrolytic capacitor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925277"/>
                  </a:ext>
                </a:extLst>
              </a:tr>
              <a:tr h="196548">
                <a:tc>
                  <a:txBody>
                    <a:bodyPr/>
                    <a:lstStyle/>
                    <a:p>
                      <a:r>
                        <a:rPr lang="en-US" sz="1000" dirty="0"/>
                        <a:t>JST XH2.5 2.54mm pitch socket plug adapter, 3 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From Amazon JST XH2.5 DIP header variety pack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Pin 1 on left when looking into plug. NO(A4)/GND/NC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75338"/>
                  </a:ext>
                </a:extLst>
              </a:tr>
              <a:tr h="2417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JST XH2.5 2.54mm pitch socket plug adapter, 4 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From Amazon JST XH2.5 DIP header variety pack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Pin 1 on left when looking into plug. 1B/1A/2A/2B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141590"/>
                  </a:ext>
                </a:extLst>
              </a:tr>
              <a:tr h="241750">
                <a:tc>
                  <a:txBody>
                    <a:bodyPr/>
                    <a:lstStyle/>
                    <a:p>
                      <a:r>
                        <a:rPr lang="en-US" sz="1000" dirty="0"/>
                        <a:t>2-pin screw terminal block for power input (tested with 12V)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Amazon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9V min for DRV8825, 12V max for Arduino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422617"/>
                  </a:ext>
                </a:extLst>
              </a:tr>
              <a:tr h="142206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456646"/>
                  </a:ext>
                </a:extLst>
              </a:tr>
              <a:tr h="24175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54819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F02F4F-EC22-4CE3-381A-154126AED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5D7FE-12F9-4B9E-9F0C-F537A65311A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6951D1-74A0-D417-5957-44EA163750C3}"/>
              </a:ext>
            </a:extLst>
          </p:cNvPr>
          <p:cNvSpPr txBox="1"/>
          <p:nvPr/>
        </p:nvSpPr>
        <p:spPr>
          <a:xfrm>
            <a:off x="4471793" y="6290758"/>
            <a:ext cx="71733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3D designs copyright 2024 Gryphon A. Drake</a:t>
            </a:r>
          </a:p>
          <a:p>
            <a:r>
              <a:rPr lang="en-US" sz="1000" dirty="0"/>
              <a:t>Documentation Copyright 2026 Andrew B. Greytak, University of South Carolina – Documentation shared via CC-BY-SA-4.0</a:t>
            </a:r>
          </a:p>
          <a:p>
            <a:r>
              <a:rPr lang="en-US" sz="1000" dirty="0">
                <a:hlinkClick r:id="rId2"/>
              </a:rPr>
              <a:t>https://github.com/Greytak-Chemistry-Lab/arduino-bli-mono-controller/LICENSE</a:t>
            </a:r>
            <a:r>
              <a:rPr lang="en-US" sz="10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579871705"/>
      </p:ext>
    </p:extLst>
  </p:cSld>
  <p:clrMapOvr>
    <a:masterClrMapping/>
  </p:clrMapOvr>
</p:sld>
</file>

<file path=ppt/theme/theme1.xml><?xml version="1.0" encoding="utf-8"?>
<a:theme xmlns:a="http://schemas.openxmlformats.org/drawingml/2006/main" name="white garnet top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03232"/>
      </a:accent1>
      <a:accent2>
        <a:srgbClr val="DC0000"/>
      </a:accent2>
      <a:accent3>
        <a:srgbClr val="FF0000"/>
      </a:accent3>
      <a:accent4>
        <a:srgbClr val="3333CC"/>
      </a:accent4>
      <a:accent5>
        <a:srgbClr val="009100"/>
      </a:accent5>
      <a:accent6>
        <a:srgbClr val="19E619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Custom 1">
    <a:dk1>
      <a:srgbClr val="000000"/>
    </a:dk1>
    <a:lt1>
      <a:srgbClr val="FFFFFF"/>
    </a:lt1>
    <a:dk2>
      <a:srgbClr val="000000"/>
    </a:dk2>
    <a:lt2>
      <a:srgbClr val="808080"/>
    </a:lt2>
    <a:accent1>
      <a:srgbClr val="A03232"/>
    </a:accent1>
    <a:accent2>
      <a:srgbClr val="DC0000"/>
    </a:accent2>
    <a:accent3>
      <a:srgbClr val="FF0000"/>
    </a:accent3>
    <a:accent4>
      <a:srgbClr val="3333CC"/>
    </a:accent4>
    <a:accent5>
      <a:srgbClr val="009100"/>
    </a:accent5>
    <a:accent6>
      <a:srgbClr val="19E619"/>
    </a:accent6>
    <a:hlink>
      <a:srgbClr val="009999"/>
    </a:hlink>
    <a:folHlink>
      <a:srgbClr val="99CC0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ECEE844703BA4190C49DA8BC829728" ma:contentTypeVersion="4" ma:contentTypeDescription="Create a new document." ma:contentTypeScope="" ma:versionID="da633761d8a18fa779bcda5bc79afac4">
  <xsd:schema xmlns:xsd="http://www.w3.org/2001/XMLSchema" xmlns:xs="http://www.w3.org/2001/XMLSchema" xmlns:p="http://schemas.microsoft.com/office/2006/metadata/properties" xmlns:ns3="2bd4e6e1-2c8d-49cd-9bbc-672eee709708" targetNamespace="http://schemas.microsoft.com/office/2006/metadata/properties" ma:root="true" ma:fieldsID="536f4b1386eee13875ad531dd634fe92" ns3:_="">
    <xsd:import namespace="2bd4e6e1-2c8d-49cd-9bbc-672eee70970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d4e6e1-2c8d-49cd-9bbc-672eee7097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41B2891-B75C-4240-B385-255435C39F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d4e6e1-2c8d-49cd-9bbc-672eee7097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20E565E-B67D-4279-ADB5-47ED6CE6BF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DF747F-86F1-4A20-AE37-438D55E3287B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2bd4e6e1-2c8d-49cd-9bbc-672eee709708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1362</TotalTime>
  <Words>376</Words>
  <Application>Microsoft Office PowerPoint</Application>
  <PresentationFormat>Widescreen</PresentationFormat>
  <Paragraphs>47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white garnet top</vt:lpstr>
      <vt:lpstr>Arduino “BLI” DRV8825 biopolar stepper motor driver shield</vt:lpstr>
      <vt:lpstr>Parts 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 the Arduino-powered spin coater in the Greytak lab (similar one in Stefik lab)</dc:title>
  <dc:creator>Greytak, Andrew</dc:creator>
  <cp:lastModifiedBy>Greytak, Andrew</cp:lastModifiedBy>
  <cp:revision>22</cp:revision>
  <dcterms:created xsi:type="dcterms:W3CDTF">2022-06-13T20:24:43Z</dcterms:created>
  <dcterms:modified xsi:type="dcterms:W3CDTF">2026-09-29T16:35:33Z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0x010100AEECEE844703BA4190C49DA8BC829728</vt:lpwstr>
  </property>
</Properties>
</file>