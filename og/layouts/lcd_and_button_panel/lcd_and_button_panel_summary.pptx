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7" r:id="rId3"/>
    <p:sldId id="258" r:id="rId4"/>
    <p:sldId id="259" r:id="rId5"/>
    <p:sldId id="262" r:id="rId6"/>
    <p:sldId id="260" r:id="rId7"/>
    <p:sldId id="261" r:id="rId8"/>
  </p:sldIdLst>
  <p:sldSz cx="9144000" cy="6858000" type="screen4x3"/>
  <p:notesSz cx="7099300" cy="93853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162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470895"/>
          </a:xfrm>
          <a:prstGeom prst="rect">
            <a:avLst/>
          </a:prstGeom>
        </p:spPr>
        <p:txBody>
          <a:bodyPr vert="horz" lIns="94192" tIns="47096" rIns="94192" bIns="47096" rtlCol="0"/>
          <a:lstStyle>
            <a:lvl1pPr algn="l">
              <a:defRPr sz="1200"/>
            </a:lvl1pPr>
          </a:lstStyle>
          <a:p>
            <a:endParaRPr lang="en-US"/>
          </a:p>
        </p:txBody>
      </p:sp>
      <p:sp>
        <p:nvSpPr>
          <p:cNvPr id="3" name="Date Placeholder 2"/>
          <p:cNvSpPr>
            <a:spLocks noGrp="1"/>
          </p:cNvSpPr>
          <p:nvPr>
            <p:ph type="dt" idx="1"/>
          </p:nvPr>
        </p:nvSpPr>
        <p:spPr>
          <a:xfrm>
            <a:off x="4021294" y="0"/>
            <a:ext cx="3076363" cy="470895"/>
          </a:xfrm>
          <a:prstGeom prst="rect">
            <a:avLst/>
          </a:prstGeom>
        </p:spPr>
        <p:txBody>
          <a:bodyPr vert="horz" lIns="94192" tIns="47096" rIns="94192" bIns="47096" rtlCol="0"/>
          <a:lstStyle>
            <a:lvl1pPr algn="r">
              <a:defRPr sz="1200"/>
            </a:lvl1pPr>
          </a:lstStyle>
          <a:p>
            <a:fld id="{934E4385-B8F5-43FD-B87C-23FE0870FB89}" type="datetimeFigureOut">
              <a:rPr lang="en-US" smtClean="0"/>
              <a:t>12/7/2024</a:t>
            </a:fld>
            <a:endParaRPr lang="en-US"/>
          </a:p>
        </p:txBody>
      </p:sp>
      <p:sp>
        <p:nvSpPr>
          <p:cNvPr id="4" name="Slide Image Placeholder 3"/>
          <p:cNvSpPr>
            <a:spLocks noGrp="1" noRot="1" noChangeAspect="1"/>
          </p:cNvSpPr>
          <p:nvPr>
            <p:ph type="sldImg" idx="2"/>
          </p:nvPr>
        </p:nvSpPr>
        <p:spPr>
          <a:xfrm>
            <a:off x="1438275" y="1173163"/>
            <a:ext cx="4222750" cy="3167062"/>
          </a:xfrm>
          <a:prstGeom prst="rect">
            <a:avLst/>
          </a:prstGeom>
          <a:noFill/>
          <a:ln w="12700">
            <a:solidFill>
              <a:prstClr val="black"/>
            </a:solidFill>
          </a:ln>
        </p:spPr>
        <p:txBody>
          <a:bodyPr vert="horz" lIns="94192" tIns="47096" rIns="94192" bIns="47096" rtlCol="0" anchor="ctr"/>
          <a:lstStyle/>
          <a:p>
            <a:endParaRPr lang="en-US"/>
          </a:p>
        </p:txBody>
      </p:sp>
      <p:sp>
        <p:nvSpPr>
          <p:cNvPr id="5" name="Notes Placeholder 4"/>
          <p:cNvSpPr>
            <a:spLocks noGrp="1"/>
          </p:cNvSpPr>
          <p:nvPr>
            <p:ph type="body" sz="quarter" idx="3"/>
          </p:nvPr>
        </p:nvSpPr>
        <p:spPr>
          <a:xfrm>
            <a:off x="709930" y="4516676"/>
            <a:ext cx="5679440" cy="3695462"/>
          </a:xfrm>
          <a:prstGeom prst="rect">
            <a:avLst/>
          </a:prstGeom>
        </p:spPr>
        <p:txBody>
          <a:bodyPr vert="horz" lIns="94192" tIns="47096" rIns="94192" bIns="4709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4407"/>
            <a:ext cx="3076363" cy="470894"/>
          </a:xfrm>
          <a:prstGeom prst="rect">
            <a:avLst/>
          </a:prstGeom>
        </p:spPr>
        <p:txBody>
          <a:bodyPr vert="horz" lIns="94192" tIns="47096" rIns="94192" bIns="47096" rtlCol="0" anchor="b"/>
          <a:lstStyle>
            <a:lvl1pPr algn="l">
              <a:defRPr sz="1200"/>
            </a:lvl1pPr>
          </a:lstStyle>
          <a:p>
            <a:endParaRPr lang="en-US"/>
          </a:p>
        </p:txBody>
      </p:sp>
      <p:sp>
        <p:nvSpPr>
          <p:cNvPr id="7" name="Slide Number Placeholder 6"/>
          <p:cNvSpPr>
            <a:spLocks noGrp="1"/>
          </p:cNvSpPr>
          <p:nvPr>
            <p:ph type="sldNum" sz="quarter" idx="5"/>
          </p:nvPr>
        </p:nvSpPr>
        <p:spPr>
          <a:xfrm>
            <a:off x="4021294" y="8914407"/>
            <a:ext cx="3076363" cy="470894"/>
          </a:xfrm>
          <a:prstGeom prst="rect">
            <a:avLst/>
          </a:prstGeom>
        </p:spPr>
        <p:txBody>
          <a:bodyPr vert="horz" lIns="94192" tIns="47096" rIns="94192" bIns="47096" rtlCol="0" anchor="b"/>
          <a:lstStyle>
            <a:lvl1pPr algn="r">
              <a:defRPr sz="1200"/>
            </a:lvl1pPr>
          </a:lstStyle>
          <a:p>
            <a:fld id="{44AC9C8B-4318-45EB-A24C-42FA8AFAB2A3}" type="slidenum">
              <a:rPr lang="en-US" smtClean="0"/>
              <a:t>‹#›</a:t>
            </a:fld>
            <a:endParaRPr lang="en-US"/>
          </a:p>
        </p:txBody>
      </p:sp>
    </p:spTree>
    <p:extLst>
      <p:ext uri="{BB962C8B-B14F-4D97-AF65-F5344CB8AC3E}">
        <p14:creationId xmlns:p14="http://schemas.microsoft.com/office/powerpoint/2010/main" val="2270288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5400C8-B2B9-4194-983F-59C10DC16525}" type="datetime1">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271670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B63A4F-BBEC-4CD6-91F8-221E1BABAAF6}" type="datetime1">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1495747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E84040-CF0F-4AD3-B829-9017D8AF2931}" type="datetime1">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482093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649116-A918-462E-A3DB-9AFC28A59980}" type="datetime1">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420414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B407E5-C166-4D90-839F-0B22CEAEAE33}" type="datetime1">
              <a:rPr lang="en-US" smtClean="0"/>
              <a:t>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672097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99C38C-ADBD-40BE-9C12-40BE280A0101}" type="datetime1">
              <a:rPr lang="en-US" smtClean="0"/>
              <a:t>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2518628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570C49-A811-4810-963F-D2ABC7129269}" type="datetime1">
              <a:rPr lang="en-US" smtClean="0"/>
              <a:t>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1738667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5499E9-7C7C-4331-ABFA-F00A5B554E2D}" type="datetime1">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62254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929424-DD0F-45DD-A6C1-99ED128F59B8}" type="datetime1">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2360392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47742A-5CA3-4EE8-BA7C-F2808549856A}" type="datetime1">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2405700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E7279F-E19D-4839-8C79-A1B4F812F4EE}" type="datetime1">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FD857F-9F30-4CA0-835C-0D438159FA5B}" type="slidenum">
              <a:rPr lang="en-US" smtClean="0"/>
              <a:t>‹#›</a:t>
            </a:fld>
            <a:endParaRPr lang="en-US"/>
          </a:p>
        </p:txBody>
      </p:sp>
    </p:spTree>
    <p:extLst>
      <p:ext uri="{BB962C8B-B14F-4D97-AF65-F5344CB8AC3E}">
        <p14:creationId xmlns:p14="http://schemas.microsoft.com/office/powerpoint/2010/main" val="1767903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85E690-72FD-4AC6-9705-3B8FEAEDEF23}" type="datetime1">
              <a:rPr lang="en-US" smtClean="0"/>
              <a:t>12/7/2024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FD857F-9F30-4CA0-835C-0D438159FA5B}" type="slidenum">
              <a:rPr lang="en-US" smtClean="0"/>
              <a:t>‹#›</a:t>
            </a:fld>
            <a:endParaRPr lang="en-US"/>
          </a:p>
        </p:txBody>
      </p:sp>
    </p:spTree>
    <p:extLst>
      <p:ext uri="{BB962C8B-B14F-4D97-AF65-F5344CB8AC3E}">
        <p14:creationId xmlns:p14="http://schemas.microsoft.com/office/powerpoint/2010/main" val="3940666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31593A4-B7CA-DE0A-3096-6A0BC02D3768}"/>
              </a:ext>
            </a:extLst>
          </p:cNvPr>
          <p:cNvPicPr>
            <a:picLocks noChangeAspect="1"/>
          </p:cNvPicPr>
          <p:nvPr/>
        </p:nvPicPr>
        <p:blipFill>
          <a:blip r:embed="rId2"/>
          <a:stretch>
            <a:fillRect/>
          </a:stretch>
        </p:blipFill>
        <p:spPr>
          <a:xfrm>
            <a:off x="2377168" y="2285368"/>
            <a:ext cx="6462032" cy="3860251"/>
          </a:xfrm>
          <a:prstGeom prst="rect">
            <a:avLst/>
          </a:prstGeom>
        </p:spPr>
      </p:pic>
      <p:sp>
        <p:nvSpPr>
          <p:cNvPr id="4" name="TextBox 3">
            <a:extLst>
              <a:ext uri="{FF2B5EF4-FFF2-40B4-BE49-F238E27FC236}">
                <a16:creationId xmlns:a16="http://schemas.microsoft.com/office/drawing/2014/main" id="{3C500DF4-A3A5-389A-AB83-D345647334A2}"/>
              </a:ext>
            </a:extLst>
          </p:cNvPr>
          <p:cNvSpPr txBox="1"/>
          <p:nvPr/>
        </p:nvSpPr>
        <p:spPr>
          <a:xfrm>
            <a:off x="233680" y="193040"/>
            <a:ext cx="6637907" cy="369332"/>
          </a:xfrm>
          <a:prstGeom prst="rect">
            <a:avLst/>
          </a:prstGeom>
          <a:noFill/>
        </p:spPr>
        <p:txBody>
          <a:bodyPr wrap="none" rtlCol="0">
            <a:spAutoFit/>
          </a:bodyPr>
          <a:lstStyle/>
          <a:p>
            <a:r>
              <a:rPr lang="en-US" dirty="0"/>
              <a:t>Hardware layout for modular Arduino lab instrument, Greytak lab </a:t>
            </a:r>
          </a:p>
        </p:txBody>
      </p:sp>
      <p:sp>
        <p:nvSpPr>
          <p:cNvPr id="5" name="TextBox 4">
            <a:extLst>
              <a:ext uri="{FF2B5EF4-FFF2-40B4-BE49-F238E27FC236}">
                <a16:creationId xmlns:a16="http://schemas.microsoft.com/office/drawing/2014/main" id="{25137FA9-5F4B-F058-6BAE-6DCC507808AD}"/>
              </a:ext>
            </a:extLst>
          </p:cNvPr>
          <p:cNvSpPr txBox="1"/>
          <p:nvPr/>
        </p:nvSpPr>
        <p:spPr>
          <a:xfrm>
            <a:off x="1581454" y="562372"/>
            <a:ext cx="7328866" cy="307777"/>
          </a:xfrm>
          <a:prstGeom prst="rect">
            <a:avLst/>
          </a:prstGeom>
          <a:noFill/>
        </p:spPr>
        <p:txBody>
          <a:bodyPr wrap="none" rtlCol="0">
            <a:spAutoFit/>
          </a:bodyPr>
          <a:lstStyle/>
          <a:p>
            <a:r>
              <a:rPr lang="en-US" sz="1400" dirty="0">
                <a:solidFill>
                  <a:srgbClr val="C00000"/>
                </a:solidFill>
              </a:rPr>
              <a:t>This example for stepper motor-based monochromator controller project: </a:t>
            </a:r>
            <a:r>
              <a:rPr lang="en-US" sz="1400" dirty="0" err="1">
                <a:solidFill>
                  <a:srgbClr val="C00000"/>
                </a:solidFill>
              </a:rPr>
              <a:t>arduino</a:t>
            </a:r>
            <a:r>
              <a:rPr lang="en-US" sz="1400" dirty="0">
                <a:solidFill>
                  <a:srgbClr val="C00000"/>
                </a:solidFill>
              </a:rPr>
              <a:t>-mono-</a:t>
            </a:r>
            <a:r>
              <a:rPr lang="en-US" sz="1400" dirty="0" err="1">
                <a:solidFill>
                  <a:srgbClr val="C00000"/>
                </a:solidFill>
              </a:rPr>
              <a:t>svn</a:t>
            </a:r>
            <a:endParaRPr lang="en-US" sz="1400" dirty="0">
              <a:solidFill>
                <a:srgbClr val="C00000"/>
              </a:solidFill>
            </a:endParaRPr>
          </a:p>
        </p:txBody>
      </p:sp>
      <p:sp>
        <p:nvSpPr>
          <p:cNvPr id="9" name="TextBox 8">
            <a:extLst>
              <a:ext uri="{FF2B5EF4-FFF2-40B4-BE49-F238E27FC236}">
                <a16:creationId xmlns:a16="http://schemas.microsoft.com/office/drawing/2014/main" id="{24FD5716-791C-5AAD-E9D8-F76D202D0F33}"/>
              </a:ext>
            </a:extLst>
          </p:cNvPr>
          <p:cNvSpPr txBox="1"/>
          <p:nvPr/>
        </p:nvSpPr>
        <p:spPr>
          <a:xfrm>
            <a:off x="304800" y="1107440"/>
            <a:ext cx="3618614" cy="1631216"/>
          </a:xfrm>
          <a:prstGeom prst="rect">
            <a:avLst/>
          </a:prstGeom>
          <a:noFill/>
        </p:spPr>
        <p:txBody>
          <a:bodyPr wrap="square" rtlCol="0">
            <a:spAutoFit/>
          </a:bodyPr>
          <a:lstStyle/>
          <a:p>
            <a:r>
              <a:rPr lang="en-US" sz="1000" dirty="0"/>
              <a:t>Digital pins 2-7: LCD output</a:t>
            </a:r>
          </a:p>
          <a:p>
            <a:r>
              <a:rPr lang="en-US" sz="1000" dirty="0"/>
              <a:t>Analog inputs A0-A5 (pins 15-19): Inputs</a:t>
            </a:r>
          </a:p>
          <a:p>
            <a:pPr lvl="1"/>
            <a:r>
              <a:rPr lang="en-US" sz="1000" dirty="0"/>
              <a:t>A0-A3: pushbuttons</a:t>
            </a:r>
          </a:p>
          <a:p>
            <a:pPr lvl="1"/>
            <a:r>
              <a:rPr lang="en-US" sz="1000" dirty="0"/>
              <a:t>A5: toggle switch (mode switch)</a:t>
            </a:r>
          </a:p>
          <a:p>
            <a:pPr lvl="1"/>
            <a:r>
              <a:rPr lang="en-US" sz="1000" dirty="0"/>
              <a:t>A4: available (used for limit switch)</a:t>
            </a:r>
          </a:p>
          <a:p>
            <a:r>
              <a:rPr lang="en-US" sz="1000" dirty="0"/>
              <a:t>Pin 13: LED/TTL output</a:t>
            </a:r>
          </a:p>
          <a:p>
            <a:r>
              <a:rPr lang="en-US" sz="1000" dirty="0"/>
              <a:t>Pins 8-12: available (used for stepper motor control)</a:t>
            </a:r>
          </a:p>
          <a:p>
            <a:r>
              <a:rPr lang="en-US" sz="1000" dirty="0"/>
              <a:t>Pins 0-1: unused</a:t>
            </a:r>
          </a:p>
          <a:p>
            <a:endParaRPr lang="en-US" sz="1000" dirty="0"/>
          </a:p>
          <a:p>
            <a:endParaRPr lang="en-US" sz="1000" dirty="0"/>
          </a:p>
        </p:txBody>
      </p:sp>
      <p:sp>
        <p:nvSpPr>
          <p:cNvPr id="12" name="Slide Number Placeholder 11">
            <a:extLst>
              <a:ext uri="{FF2B5EF4-FFF2-40B4-BE49-F238E27FC236}">
                <a16:creationId xmlns:a16="http://schemas.microsoft.com/office/drawing/2014/main" id="{740A4C7F-7FB2-BA4F-6410-F05CA2E2D881}"/>
              </a:ext>
            </a:extLst>
          </p:cNvPr>
          <p:cNvSpPr>
            <a:spLocks noGrp="1"/>
          </p:cNvSpPr>
          <p:nvPr>
            <p:ph type="sldNum" sz="quarter" idx="12"/>
          </p:nvPr>
        </p:nvSpPr>
        <p:spPr/>
        <p:txBody>
          <a:bodyPr/>
          <a:lstStyle/>
          <a:p>
            <a:fld id="{EBFD857F-9F30-4CA0-835C-0D438159FA5B}" type="slidenum">
              <a:rPr lang="en-US" smtClean="0"/>
              <a:t>1</a:t>
            </a:fld>
            <a:endParaRPr lang="en-US"/>
          </a:p>
        </p:txBody>
      </p:sp>
      <p:sp>
        <p:nvSpPr>
          <p:cNvPr id="13" name="TextBox 12">
            <a:extLst>
              <a:ext uri="{FF2B5EF4-FFF2-40B4-BE49-F238E27FC236}">
                <a16:creationId xmlns:a16="http://schemas.microsoft.com/office/drawing/2014/main" id="{9145B3E1-11E1-8EC8-48FF-A80E9E6E3B41}"/>
              </a:ext>
            </a:extLst>
          </p:cNvPr>
          <p:cNvSpPr txBox="1"/>
          <p:nvPr/>
        </p:nvSpPr>
        <p:spPr>
          <a:xfrm>
            <a:off x="4136065" y="1107440"/>
            <a:ext cx="2581604" cy="369332"/>
          </a:xfrm>
          <a:prstGeom prst="rect">
            <a:avLst/>
          </a:prstGeom>
          <a:noFill/>
        </p:spPr>
        <p:txBody>
          <a:bodyPr wrap="none" rtlCol="0">
            <a:spAutoFit/>
          </a:bodyPr>
          <a:lstStyle/>
          <a:p>
            <a:r>
              <a:rPr lang="en-US" dirty="0"/>
              <a:t>Schematic view: Fritzing</a:t>
            </a:r>
          </a:p>
        </p:txBody>
      </p:sp>
      <p:sp>
        <p:nvSpPr>
          <p:cNvPr id="14" name="TextBox 13">
            <a:extLst>
              <a:ext uri="{FF2B5EF4-FFF2-40B4-BE49-F238E27FC236}">
                <a16:creationId xmlns:a16="http://schemas.microsoft.com/office/drawing/2014/main" id="{36B1DE70-6E89-C2D7-2593-CE5B620DC4B8}"/>
              </a:ext>
            </a:extLst>
          </p:cNvPr>
          <p:cNvSpPr txBox="1"/>
          <p:nvPr/>
        </p:nvSpPr>
        <p:spPr>
          <a:xfrm>
            <a:off x="304800" y="2446521"/>
            <a:ext cx="2119423" cy="2554545"/>
          </a:xfrm>
          <a:prstGeom prst="rect">
            <a:avLst/>
          </a:prstGeom>
          <a:noFill/>
        </p:spPr>
        <p:txBody>
          <a:bodyPr wrap="square" rtlCol="0">
            <a:spAutoFit/>
          </a:bodyPr>
          <a:lstStyle/>
          <a:p>
            <a:r>
              <a:rPr lang="en-US" sz="1000" dirty="0"/>
              <a:t>Idea is: </a:t>
            </a:r>
          </a:p>
          <a:p>
            <a:pPr marL="285750" indent="-285750">
              <a:buFontTx/>
              <a:buChar char="-"/>
            </a:pPr>
            <a:r>
              <a:rPr lang="en-US" sz="1000" dirty="0"/>
              <a:t>power, input “bus”, and LED out goes to button panel</a:t>
            </a:r>
          </a:p>
          <a:p>
            <a:pPr marL="285750" indent="-285750">
              <a:buFontTx/>
              <a:buChar char="-"/>
            </a:pPr>
            <a:r>
              <a:rPr lang="en-US" sz="1000" dirty="0"/>
              <a:t>LCD panel is powered from button panel</a:t>
            </a:r>
          </a:p>
          <a:p>
            <a:pPr marL="285750" indent="-285750">
              <a:buFontTx/>
              <a:buChar char="-"/>
            </a:pPr>
            <a:r>
              <a:rPr lang="en-US" sz="1000" dirty="0"/>
              <a:t>Additional inputs can be connected to the input “bus” via peripheral connections to the button panel</a:t>
            </a:r>
          </a:p>
          <a:p>
            <a:pPr marL="285750" indent="-285750">
              <a:buFontTx/>
              <a:buChar char="-"/>
            </a:pPr>
            <a:r>
              <a:rPr lang="en-US" sz="1000" dirty="0"/>
              <a:t>The “mode” toggle switch is one such peripheral input</a:t>
            </a:r>
          </a:p>
          <a:p>
            <a:pPr marL="285750" indent="-285750">
              <a:buFontTx/>
              <a:buChar char="-"/>
            </a:pPr>
            <a:r>
              <a:rPr lang="en-US" sz="1000" dirty="0"/>
              <a:t>All digital inputs are active low, configured as INPUT_PULLUP (supposed to be 20k-50k internal pull-ups to 5V)</a:t>
            </a:r>
          </a:p>
        </p:txBody>
      </p:sp>
    </p:spTree>
    <p:extLst>
      <p:ext uri="{BB962C8B-B14F-4D97-AF65-F5344CB8AC3E}">
        <p14:creationId xmlns:p14="http://schemas.microsoft.com/office/powerpoint/2010/main" val="3848593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50F18-2066-95AA-2B0C-6F53312750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13A3F5-A6AB-D3DA-3990-4E0F9B64CE67}"/>
              </a:ext>
            </a:extLst>
          </p:cNvPr>
          <p:cNvPicPr>
            <a:picLocks noChangeAspect="1"/>
          </p:cNvPicPr>
          <p:nvPr/>
        </p:nvPicPr>
        <p:blipFill>
          <a:blip r:embed="rId2"/>
          <a:stretch>
            <a:fillRect/>
          </a:stretch>
        </p:blipFill>
        <p:spPr>
          <a:xfrm>
            <a:off x="2255198" y="1476772"/>
            <a:ext cx="6470839" cy="5143937"/>
          </a:xfrm>
          <a:prstGeom prst="rect">
            <a:avLst/>
          </a:prstGeom>
        </p:spPr>
      </p:pic>
      <p:sp>
        <p:nvSpPr>
          <p:cNvPr id="4" name="TextBox 3">
            <a:extLst>
              <a:ext uri="{FF2B5EF4-FFF2-40B4-BE49-F238E27FC236}">
                <a16:creationId xmlns:a16="http://schemas.microsoft.com/office/drawing/2014/main" id="{5DD44731-04C7-79BE-FE53-908FB565C141}"/>
              </a:ext>
            </a:extLst>
          </p:cNvPr>
          <p:cNvSpPr txBox="1"/>
          <p:nvPr/>
        </p:nvSpPr>
        <p:spPr>
          <a:xfrm>
            <a:off x="233680" y="193040"/>
            <a:ext cx="6637907" cy="369332"/>
          </a:xfrm>
          <a:prstGeom prst="rect">
            <a:avLst/>
          </a:prstGeom>
          <a:noFill/>
        </p:spPr>
        <p:txBody>
          <a:bodyPr wrap="none" rtlCol="0">
            <a:spAutoFit/>
          </a:bodyPr>
          <a:lstStyle/>
          <a:p>
            <a:r>
              <a:rPr lang="en-US" dirty="0"/>
              <a:t>Hardware layout for modular Arduino lab instrument, Greytak lab </a:t>
            </a:r>
          </a:p>
        </p:txBody>
      </p:sp>
      <p:sp>
        <p:nvSpPr>
          <p:cNvPr id="5" name="TextBox 4">
            <a:extLst>
              <a:ext uri="{FF2B5EF4-FFF2-40B4-BE49-F238E27FC236}">
                <a16:creationId xmlns:a16="http://schemas.microsoft.com/office/drawing/2014/main" id="{C2B40512-B413-F195-0AC8-0A4480EA3A8E}"/>
              </a:ext>
            </a:extLst>
          </p:cNvPr>
          <p:cNvSpPr txBox="1"/>
          <p:nvPr/>
        </p:nvSpPr>
        <p:spPr>
          <a:xfrm>
            <a:off x="1581454" y="562372"/>
            <a:ext cx="7328866" cy="307777"/>
          </a:xfrm>
          <a:prstGeom prst="rect">
            <a:avLst/>
          </a:prstGeom>
          <a:noFill/>
        </p:spPr>
        <p:txBody>
          <a:bodyPr wrap="none" rtlCol="0">
            <a:spAutoFit/>
          </a:bodyPr>
          <a:lstStyle/>
          <a:p>
            <a:r>
              <a:rPr lang="en-US" sz="1400" dirty="0">
                <a:solidFill>
                  <a:srgbClr val="C00000"/>
                </a:solidFill>
              </a:rPr>
              <a:t>This example for stepper motor-based monochromator controller project: </a:t>
            </a:r>
            <a:r>
              <a:rPr lang="en-US" sz="1400" dirty="0" err="1">
                <a:solidFill>
                  <a:srgbClr val="C00000"/>
                </a:solidFill>
              </a:rPr>
              <a:t>arduino</a:t>
            </a:r>
            <a:r>
              <a:rPr lang="en-US" sz="1400" dirty="0">
                <a:solidFill>
                  <a:srgbClr val="C00000"/>
                </a:solidFill>
              </a:rPr>
              <a:t>-mono-</a:t>
            </a:r>
            <a:r>
              <a:rPr lang="en-US" sz="1400" dirty="0" err="1">
                <a:solidFill>
                  <a:srgbClr val="C00000"/>
                </a:solidFill>
              </a:rPr>
              <a:t>svn</a:t>
            </a:r>
            <a:endParaRPr lang="en-US" sz="1400" dirty="0">
              <a:solidFill>
                <a:srgbClr val="C00000"/>
              </a:solidFill>
            </a:endParaRPr>
          </a:p>
        </p:txBody>
      </p:sp>
      <p:sp>
        <p:nvSpPr>
          <p:cNvPr id="9" name="TextBox 8">
            <a:extLst>
              <a:ext uri="{FF2B5EF4-FFF2-40B4-BE49-F238E27FC236}">
                <a16:creationId xmlns:a16="http://schemas.microsoft.com/office/drawing/2014/main" id="{9DF1DA27-17E6-3A10-14D0-0D76410B77B0}"/>
              </a:ext>
            </a:extLst>
          </p:cNvPr>
          <p:cNvSpPr txBox="1"/>
          <p:nvPr/>
        </p:nvSpPr>
        <p:spPr>
          <a:xfrm>
            <a:off x="304800" y="1107440"/>
            <a:ext cx="3618614" cy="1631216"/>
          </a:xfrm>
          <a:prstGeom prst="rect">
            <a:avLst/>
          </a:prstGeom>
          <a:noFill/>
        </p:spPr>
        <p:txBody>
          <a:bodyPr wrap="square" rtlCol="0">
            <a:spAutoFit/>
          </a:bodyPr>
          <a:lstStyle/>
          <a:p>
            <a:r>
              <a:rPr lang="en-US" sz="1000" dirty="0"/>
              <a:t>Digital pins 2-7: LCD output</a:t>
            </a:r>
          </a:p>
          <a:p>
            <a:r>
              <a:rPr lang="en-US" sz="1000" dirty="0"/>
              <a:t>Analog inputs A0-A5 (pins 15-19): Inputs</a:t>
            </a:r>
          </a:p>
          <a:p>
            <a:pPr lvl="1"/>
            <a:r>
              <a:rPr lang="en-US" sz="1000" dirty="0"/>
              <a:t>A0-A3: pushbuttons</a:t>
            </a:r>
          </a:p>
          <a:p>
            <a:pPr lvl="1"/>
            <a:r>
              <a:rPr lang="en-US" sz="1000" dirty="0"/>
              <a:t>A5: toggle switch (mode switch)</a:t>
            </a:r>
          </a:p>
          <a:p>
            <a:pPr lvl="1"/>
            <a:r>
              <a:rPr lang="en-US" sz="1000" dirty="0"/>
              <a:t>A4: available (used for limit switch)</a:t>
            </a:r>
          </a:p>
          <a:p>
            <a:r>
              <a:rPr lang="en-US" sz="1000" dirty="0"/>
              <a:t>Pin 13: LED/TTL output</a:t>
            </a:r>
          </a:p>
          <a:p>
            <a:r>
              <a:rPr lang="en-US" sz="1000" dirty="0"/>
              <a:t>Pins 8-12: available (used for stepper motor control)</a:t>
            </a:r>
          </a:p>
          <a:p>
            <a:r>
              <a:rPr lang="en-US" sz="1000" dirty="0"/>
              <a:t>Pins 0-1: unused</a:t>
            </a:r>
          </a:p>
          <a:p>
            <a:endParaRPr lang="en-US" sz="1000" dirty="0"/>
          </a:p>
          <a:p>
            <a:endParaRPr lang="en-US" sz="1000" dirty="0"/>
          </a:p>
        </p:txBody>
      </p:sp>
      <p:sp>
        <p:nvSpPr>
          <p:cNvPr id="12" name="Slide Number Placeholder 11">
            <a:extLst>
              <a:ext uri="{FF2B5EF4-FFF2-40B4-BE49-F238E27FC236}">
                <a16:creationId xmlns:a16="http://schemas.microsoft.com/office/drawing/2014/main" id="{8211AD61-59C1-BF3A-D420-27BCCFE8DF83}"/>
              </a:ext>
            </a:extLst>
          </p:cNvPr>
          <p:cNvSpPr>
            <a:spLocks noGrp="1"/>
          </p:cNvSpPr>
          <p:nvPr>
            <p:ph type="sldNum" sz="quarter" idx="12"/>
          </p:nvPr>
        </p:nvSpPr>
        <p:spPr>
          <a:xfrm>
            <a:off x="7071665" y="6356351"/>
            <a:ext cx="2057400" cy="365125"/>
          </a:xfrm>
        </p:spPr>
        <p:txBody>
          <a:bodyPr/>
          <a:lstStyle/>
          <a:p>
            <a:fld id="{EBFD857F-9F30-4CA0-835C-0D438159FA5B}" type="slidenum">
              <a:rPr lang="en-US" smtClean="0"/>
              <a:t>2</a:t>
            </a:fld>
            <a:endParaRPr lang="en-US" dirty="0"/>
          </a:p>
        </p:txBody>
      </p:sp>
      <p:sp>
        <p:nvSpPr>
          <p:cNvPr id="13" name="TextBox 12">
            <a:extLst>
              <a:ext uri="{FF2B5EF4-FFF2-40B4-BE49-F238E27FC236}">
                <a16:creationId xmlns:a16="http://schemas.microsoft.com/office/drawing/2014/main" id="{A7D60009-C78D-F320-CA08-A4963C927335}"/>
              </a:ext>
            </a:extLst>
          </p:cNvPr>
          <p:cNvSpPr txBox="1"/>
          <p:nvPr/>
        </p:nvSpPr>
        <p:spPr>
          <a:xfrm>
            <a:off x="4136065" y="1107440"/>
            <a:ext cx="3823419" cy="369332"/>
          </a:xfrm>
          <a:prstGeom prst="rect">
            <a:avLst/>
          </a:prstGeom>
          <a:noFill/>
        </p:spPr>
        <p:txBody>
          <a:bodyPr wrap="none" rtlCol="0">
            <a:spAutoFit/>
          </a:bodyPr>
          <a:lstStyle/>
          <a:p>
            <a:r>
              <a:rPr lang="en-US" dirty="0"/>
              <a:t>Breadboard implementation: Fritzing</a:t>
            </a:r>
          </a:p>
        </p:txBody>
      </p:sp>
      <p:sp>
        <p:nvSpPr>
          <p:cNvPr id="6" name="TextBox 5">
            <a:extLst>
              <a:ext uri="{FF2B5EF4-FFF2-40B4-BE49-F238E27FC236}">
                <a16:creationId xmlns:a16="http://schemas.microsoft.com/office/drawing/2014/main" id="{F40D4F66-7F71-60A1-F234-CB9A8C389A1D}"/>
              </a:ext>
            </a:extLst>
          </p:cNvPr>
          <p:cNvSpPr txBox="1"/>
          <p:nvPr/>
        </p:nvSpPr>
        <p:spPr>
          <a:xfrm>
            <a:off x="304800" y="2446521"/>
            <a:ext cx="2119423" cy="2554545"/>
          </a:xfrm>
          <a:prstGeom prst="rect">
            <a:avLst/>
          </a:prstGeom>
          <a:noFill/>
        </p:spPr>
        <p:txBody>
          <a:bodyPr wrap="square" rtlCol="0">
            <a:spAutoFit/>
          </a:bodyPr>
          <a:lstStyle/>
          <a:p>
            <a:r>
              <a:rPr lang="en-US" sz="1000" dirty="0"/>
              <a:t>Idea is: </a:t>
            </a:r>
          </a:p>
          <a:p>
            <a:pPr marL="285750" indent="-285750">
              <a:buFontTx/>
              <a:buChar char="-"/>
            </a:pPr>
            <a:r>
              <a:rPr lang="en-US" sz="1000" dirty="0"/>
              <a:t>power, input “bus”, and LED out goes to button panel</a:t>
            </a:r>
          </a:p>
          <a:p>
            <a:pPr marL="285750" indent="-285750">
              <a:buFontTx/>
              <a:buChar char="-"/>
            </a:pPr>
            <a:r>
              <a:rPr lang="en-US" sz="1000" dirty="0"/>
              <a:t>LCD panel is powered from button panel</a:t>
            </a:r>
          </a:p>
          <a:p>
            <a:pPr marL="285750" indent="-285750">
              <a:buFontTx/>
              <a:buChar char="-"/>
            </a:pPr>
            <a:r>
              <a:rPr lang="en-US" sz="1000" dirty="0"/>
              <a:t>Additional inputs can be connected to the input “bus” via peripheral connections to the button panel</a:t>
            </a:r>
          </a:p>
          <a:p>
            <a:pPr marL="285750" indent="-285750">
              <a:buFontTx/>
              <a:buChar char="-"/>
            </a:pPr>
            <a:r>
              <a:rPr lang="en-US" sz="1000" dirty="0"/>
              <a:t>The “mode” toggle switch is one such peripheral input</a:t>
            </a:r>
          </a:p>
          <a:p>
            <a:pPr marL="285750" indent="-285750">
              <a:buFontTx/>
              <a:buChar char="-"/>
            </a:pPr>
            <a:r>
              <a:rPr lang="en-US" sz="1000" dirty="0"/>
              <a:t>All digital inputs are active low, configured as INPUT_PULLUP (supposed to be 20k-50k internal pull-ups to 5V)</a:t>
            </a:r>
          </a:p>
        </p:txBody>
      </p:sp>
    </p:spTree>
    <p:extLst>
      <p:ext uri="{BB962C8B-B14F-4D97-AF65-F5344CB8AC3E}">
        <p14:creationId xmlns:p14="http://schemas.microsoft.com/office/powerpoint/2010/main" val="116012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33CEF-48A1-80E4-CF41-A89471E269A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29B678-1DE3-8E51-1538-F30D55FF66F1}"/>
              </a:ext>
            </a:extLst>
          </p:cNvPr>
          <p:cNvSpPr txBox="1"/>
          <p:nvPr/>
        </p:nvSpPr>
        <p:spPr>
          <a:xfrm>
            <a:off x="233680" y="193040"/>
            <a:ext cx="6637907" cy="369332"/>
          </a:xfrm>
          <a:prstGeom prst="rect">
            <a:avLst/>
          </a:prstGeom>
          <a:noFill/>
        </p:spPr>
        <p:txBody>
          <a:bodyPr wrap="none" rtlCol="0">
            <a:spAutoFit/>
          </a:bodyPr>
          <a:lstStyle/>
          <a:p>
            <a:r>
              <a:rPr lang="en-US" dirty="0"/>
              <a:t>Hardware layout for modular Arduino lab instrument, Greytak lab </a:t>
            </a:r>
          </a:p>
        </p:txBody>
      </p:sp>
      <p:sp>
        <p:nvSpPr>
          <p:cNvPr id="5" name="TextBox 4">
            <a:extLst>
              <a:ext uri="{FF2B5EF4-FFF2-40B4-BE49-F238E27FC236}">
                <a16:creationId xmlns:a16="http://schemas.microsoft.com/office/drawing/2014/main" id="{B31EEBE8-8E33-132F-02DA-D6A2AF17B547}"/>
              </a:ext>
            </a:extLst>
          </p:cNvPr>
          <p:cNvSpPr txBox="1"/>
          <p:nvPr/>
        </p:nvSpPr>
        <p:spPr>
          <a:xfrm>
            <a:off x="1581454" y="562372"/>
            <a:ext cx="7328866" cy="307777"/>
          </a:xfrm>
          <a:prstGeom prst="rect">
            <a:avLst/>
          </a:prstGeom>
          <a:noFill/>
        </p:spPr>
        <p:txBody>
          <a:bodyPr wrap="none" rtlCol="0">
            <a:spAutoFit/>
          </a:bodyPr>
          <a:lstStyle/>
          <a:p>
            <a:r>
              <a:rPr lang="en-US" sz="1400" dirty="0">
                <a:solidFill>
                  <a:srgbClr val="C00000"/>
                </a:solidFill>
              </a:rPr>
              <a:t>This example for stepper motor-based monochromator controller project: </a:t>
            </a:r>
            <a:r>
              <a:rPr lang="en-US" sz="1400" dirty="0" err="1">
                <a:solidFill>
                  <a:srgbClr val="C00000"/>
                </a:solidFill>
              </a:rPr>
              <a:t>arduino</a:t>
            </a:r>
            <a:r>
              <a:rPr lang="en-US" sz="1400" dirty="0">
                <a:solidFill>
                  <a:srgbClr val="C00000"/>
                </a:solidFill>
              </a:rPr>
              <a:t>-mono-</a:t>
            </a:r>
            <a:r>
              <a:rPr lang="en-US" sz="1400" dirty="0" err="1">
                <a:solidFill>
                  <a:srgbClr val="C00000"/>
                </a:solidFill>
              </a:rPr>
              <a:t>svn</a:t>
            </a:r>
            <a:endParaRPr lang="en-US" sz="1400" dirty="0">
              <a:solidFill>
                <a:srgbClr val="C00000"/>
              </a:solidFill>
            </a:endParaRPr>
          </a:p>
        </p:txBody>
      </p:sp>
      <p:sp>
        <p:nvSpPr>
          <p:cNvPr id="9" name="TextBox 8">
            <a:extLst>
              <a:ext uri="{FF2B5EF4-FFF2-40B4-BE49-F238E27FC236}">
                <a16:creationId xmlns:a16="http://schemas.microsoft.com/office/drawing/2014/main" id="{BB530B56-681D-C934-F0E4-7E3E3FF384A8}"/>
              </a:ext>
            </a:extLst>
          </p:cNvPr>
          <p:cNvSpPr txBox="1"/>
          <p:nvPr/>
        </p:nvSpPr>
        <p:spPr>
          <a:xfrm>
            <a:off x="304800" y="1107440"/>
            <a:ext cx="3618614" cy="1631216"/>
          </a:xfrm>
          <a:prstGeom prst="rect">
            <a:avLst/>
          </a:prstGeom>
          <a:noFill/>
        </p:spPr>
        <p:txBody>
          <a:bodyPr wrap="square" rtlCol="0">
            <a:spAutoFit/>
          </a:bodyPr>
          <a:lstStyle/>
          <a:p>
            <a:r>
              <a:rPr lang="en-US" sz="1000" dirty="0"/>
              <a:t>Digital pins 2-7: LCD output</a:t>
            </a:r>
          </a:p>
          <a:p>
            <a:r>
              <a:rPr lang="en-US" sz="1000" dirty="0"/>
              <a:t>Analog inputs A0-A5 (pins 15-19): Inputs</a:t>
            </a:r>
          </a:p>
          <a:p>
            <a:pPr lvl="1"/>
            <a:r>
              <a:rPr lang="en-US" sz="1000" dirty="0"/>
              <a:t>A0-A3: pushbuttons</a:t>
            </a:r>
          </a:p>
          <a:p>
            <a:pPr lvl="1"/>
            <a:r>
              <a:rPr lang="en-US" sz="1000" dirty="0"/>
              <a:t>A5: toggle switch (mode switch)</a:t>
            </a:r>
          </a:p>
          <a:p>
            <a:pPr lvl="1"/>
            <a:r>
              <a:rPr lang="en-US" sz="1000" dirty="0"/>
              <a:t>A4: available (used for limit switch)</a:t>
            </a:r>
          </a:p>
          <a:p>
            <a:r>
              <a:rPr lang="en-US" sz="1000" dirty="0"/>
              <a:t>Pin 13: LED/TTL output</a:t>
            </a:r>
          </a:p>
          <a:p>
            <a:r>
              <a:rPr lang="en-US" sz="1000" dirty="0"/>
              <a:t>Pins 8-12: available (used for stepper motor control)</a:t>
            </a:r>
          </a:p>
          <a:p>
            <a:r>
              <a:rPr lang="en-US" sz="1000" dirty="0"/>
              <a:t>Pins 0-1: unused</a:t>
            </a:r>
          </a:p>
          <a:p>
            <a:endParaRPr lang="en-US" sz="1000" dirty="0"/>
          </a:p>
          <a:p>
            <a:endParaRPr lang="en-US" sz="1000" dirty="0"/>
          </a:p>
        </p:txBody>
      </p:sp>
      <p:sp>
        <p:nvSpPr>
          <p:cNvPr id="12" name="Slide Number Placeholder 11">
            <a:extLst>
              <a:ext uri="{FF2B5EF4-FFF2-40B4-BE49-F238E27FC236}">
                <a16:creationId xmlns:a16="http://schemas.microsoft.com/office/drawing/2014/main" id="{E439790D-AFCC-B384-1BDE-8198236ED640}"/>
              </a:ext>
            </a:extLst>
          </p:cNvPr>
          <p:cNvSpPr>
            <a:spLocks noGrp="1"/>
          </p:cNvSpPr>
          <p:nvPr>
            <p:ph type="sldNum" sz="quarter" idx="12"/>
          </p:nvPr>
        </p:nvSpPr>
        <p:spPr/>
        <p:txBody>
          <a:bodyPr/>
          <a:lstStyle/>
          <a:p>
            <a:fld id="{EBFD857F-9F30-4CA0-835C-0D438159FA5B}" type="slidenum">
              <a:rPr lang="en-US" smtClean="0"/>
              <a:t>3</a:t>
            </a:fld>
            <a:endParaRPr lang="en-US"/>
          </a:p>
        </p:txBody>
      </p:sp>
      <p:sp>
        <p:nvSpPr>
          <p:cNvPr id="13" name="TextBox 12">
            <a:extLst>
              <a:ext uri="{FF2B5EF4-FFF2-40B4-BE49-F238E27FC236}">
                <a16:creationId xmlns:a16="http://schemas.microsoft.com/office/drawing/2014/main" id="{756E2A53-148F-CAF5-4952-8E75EDE6D34F}"/>
              </a:ext>
            </a:extLst>
          </p:cNvPr>
          <p:cNvSpPr txBox="1"/>
          <p:nvPr/>
        </p:nvSpPr>
        <p:spPr>
          <a:xfrm>
            <a:off x="4136065" y="1107440"/>
            <a:ext cx="3686458" cy="369332"/>
          </a:xfrm>
          <a:prstGeom prst="rect">
            <a:avLst/>
          </a:prstGeom>
          <a:noFill/>
        </p:spPr>
        <p:txBody>
          <a:bodyPr wrap="none" rtlCol="0">
            <a:spAutoFit/>
          </a:bodyPr>
          <a:lstStyle/>
          <a:p>
            <a:r>
              <a:rPr lang="en-US" dirty="0"/>
              <a:t>Breadboard implementation: photo</a:t>
            </a:r>
          </a:p>
        </p:txBody>
      </p:sp>
      <p:pic>
        <p:nvPicPr>
          <p:cNvPr id="6" name="Picture 5" descr="A person's lap top with electronics&#10;&#10;Description automatically generated">
            <a:extLst>
              <a:ext uri="{FF2B5EF4-FFF2-40B4-BE49-F238E27FC236}">
                <a16:creationId xmlns:a16="http://schemas.microsoft.com/office/drawing/2014/main" id="{06A86C89-0F37-5DB1-2C41-B80B2653E257}"/>
              </a:ext>
            </a:extLst>
          </p:cNvPr>
          <p:cNvPicPr>
            <a:picLocks noChangeAspect="1"/>
          </p:cNvPicPr>
          <p:nvPr/>
        </p:nvPicPr>
        <p:blipFill>
          <a:blip r:embed="rId2">
            <a:extLst>
              <a:ext uri="{28A0092B-C50C-407E-A947-70E740481C1C}">
                <a14:useLocalDpi xmlns:a14="http://schemas.microsoft.com/office/drawing/2010/main" val="0"/>
              </a:ext>
            </a:extLst>
          </a:blip>
          <a:srcRect l="19120" r="17677"/>
          <a:stretch/>
        </p:blipFill>
        <p:spPr>
          <a:xfrm>
            <a:off x="3552633" y="1494264"/>
            <a:ext cx="4389888" cy="5209233"/>
          </a:xfrm>
          <a:prstGeom prst="rect">
            <a:avLst/>
          </a:prstGeom>
        </p:spPr>
      </p:pic>
      <p:sp>
        <p:nvSpPr>
          <p:cNvPr id="7" name="TextBox 6">
            <a:extLst>
              <a:ext uri="{FF2B5EF4-FFF2-40B4-BE49-F238E27FC236}">
                <a16:creationId xmlns:a16="http://schemas.microsoft.com/office/drawing/2014/main" id="{D0B003DC-C252-6A3E-8C8D-66A3BA3C40D1}"/>
              </a:ext>
            </a:extLst>
          </p:cNvPr>
          <p:cNvSpPr txBox="1"/>
          <p:nvPr/>
        </p:nvSpPr>
        <p:spPr>
          <a:xfrm>
            <a:off x="304800" y="2446521"/>
            <a:ext cx="2119423" cy="2554545"/>
          </a:xfrm>
          <a:prstGeom prst="rect">
            <a:avLst/>
          </a:prstGeom>
          <a:noFill/>
        </p:spPr>
        <p:txBody>
          <a:bodyPr wrap="square" rtlCol="0">
            <a:spAutoFit/>
          </a:bodyPr>
          <a:lstStyle/>
          <a:p>
            <a:r>
              <a:rPr lang="en-US" sz="1000" dirty="0"/>
              <a:t>Idea is: </a:t>
            </a:r>
          </a:p>
          <a:p>
            <a:pPr marL="285750" indent="-285750">
              <a:buFontTx/>
              <a:buChar char="-"/>
            </a:pPr>
            <a:r>
              <a:rPr lang="en-US" sz="1000" dirty="0"/>
              <a:t>power, input “bus”, and LED out goes to button panel</a:t>
            </a:r>
          </a:p>
          <a:p>
            <a:pPr marL="285750" indent="-285750">
              <a:buFontTx/>
              <a:buChar char="-"/>
            </a:pPr>
            <a:r>
              <a:rPr lang="en-US" sz="1000" dirty="0"/>
              <a:t>LCD panel is powered from button panel</a:t>
            </a:r>
          </a:p>
          <a:p>
            <a:pPr marL="285750" indent="-285750">
              <a:buFontTx/>
              <a:buChar char="-"/>
            </a:pPr>
            <a:r>
              <a:rPr lang="en-US" sz="1000" dirty="0"/>
              <a:t>Additional inputs can be connected to the input “bus” via peripheral connections to the button panel</a:t>
            </a:r>
          </a:p>
          <a:p>
            <a:pPr marL="285750" indent="-285750">
              <a:buFontTx/>
              <a:buChar char="-"/>
            </a:pPr>
            <a:r>
              <a:rPr lang="en-US" sz="1000" dirty="0"/>
              <a:t>The “mode” toggle switch is one such peripheral input</a:t>
            </a:r>
          </a:p>
          <a:p>
            <a:pPr marL="285750" indent="-285750">
              <a:buFontTx/>
              <a:buChar char="-"/>
            </a:pPr>
            <a:r>
              <a:rPr lang="en-US" sz="1000" dirty="0"/>
              <a:t>All digital inputs are active low, configured as INPUT_PULLUP (supposed to be 20k-50k internal pull-ups to 5V)</a:t>
            </a:r>
          </a:p>
        </p:txBody>
      </p:sp>
    </p:spTree>
    <p:extLst>
      <p:ext uri="{BB962C8B-B14F-4D97-AF65-F5344CB8AC3E}">
        <p14:creationId xmlns:p14="http://schemas.microsoft.com/office/powerpoint/2010/main" val="4021882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6FB09-ADF7-9B73-177C-BF30F6936C22}"/>
            </a:ext>
          </a:extLst>
        </p:cNvPr>
        <p:cNvGrpSpPr/>
        <p:nvPr/>
      </p:nvGrpSpPr>
      <p:grpSpPr>
        <a:xfrm>
          <a:off x="0" y="0"/>
          <a:ext cx="0" cy="0"/>
          <a:chOff x="0" y="0"/>
          <a:chExt cx="0" cy="0"/>
        </a:xfrm>
      </p:grpSpPr>
      <p:pic>
        <p:nvPicPr>
          <p:cNvPr id="3" name="Picture 2" descr="A computer screen with wires attached to it&#10;&#10;Description automatically generated with medium confidence">
            <a:extLst>
              <a:ext uri="{FF2B5EF4-FFF2-40B4-BE49-F238E27FC236}">
                <a16:creationId xmlns:a16="http://schemas.microsoft.com/office/drawing/2014/main" id="{6519CB16-C61D-BE34-C8E6-32B46DF38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5218" y="2400102"/>
            <a:ext cx="5231434" cy="2916080"/>
          </a:xfrm>
          <a:prstGeom prst="rect">
            <a:avLst/>
          </a:prstGeom>
        </p:spPr>
      </p:pic>
      <p:sp>
        <p:nvSpPr>
          <p:cNvPr id="4" name="TextBox 3">
            <a:extLst>
              <a:ext uri="{FF2B5EF4-FFF2-40B4-BE49-F238E27FC236}">
                <a16:creationId xmlns:a16="http://schemas.microsoft.com/office/drawing/2014/main" id="{57FD29BE-6A8D-34B7-DC20-A0D344AC855B}"/>
              </a:ext>
            </a:extLst>
          </p:cNvPr>
          <p:cNvSpPr txBox="1"/>
          <p:nvPr/>
        </p:nvSpPr>
        <p:spPr>
          <a:xfrm>
            <a:off x="233680" y="193040"/>
            <a:ext cx="6637907" cy="369332"/>
          </a:xfrm>
          <a:prstGeom prst="rect">
            <a:avLst/>
          </a:prstGeom>
          <a:noFill/>
        </p:spPr>
        <p:txBody>
          <a:bodyPr wrap="none" rtlCol="0">
            <a:spAutoFit/>
          </a:bodyPr>
          <a:lstStyle/>
          <a:p>
            <a:r>
              <a:rPr lang="en-US" dirty="0"/>
              <a:t>Hardware layout for modular Arduino lab instrument, Greytak lab </a:t>
            </a:r>
          </a:p>
        </p:txBody>
      </p:sp>
      <p:sp>
        <p:nvSpPr>
          <p:cNvPr id="5" name="TextBox 4">
            <a:extLst>
              <a:ext uri="{FF2B5EF4-FFF2-40B4-BE49-F238E27FC236}">
                <a16:creationId xmlns:a16="http://schemas.microsoft.com/office/drawing/2014/main" id="{522953B6-F0BD-BA69-13BF-70DFEF763D9E}"/>
              </a:ext>
            </a:extLst>
          </p:cNvPr>
          <p:cNvSpPr txBox="1"/>
          <p:nvPr/>
        </p:nvSpPr>
        <p:spPr>
          <a:xfrm>
            <a:off x="1581454" y="562372"/>
            <a:ext cx="7328866" cy="307777"/>
          </a:xfrm>
          <a:prstGeom prst="rect">
            <a:avLst/>
          </a:prstGeom>
          <a:noFill/>
        </p:spPr>
        <p:txBody>
          <a:bodyPr wrap="none" rtlCol="0">
            <a:spAutoFit/>
          </a:bodyPr>
          <a:lstStyle/>
          <a:p>
            <a:r>
              <a:rPr lang="en-US" sz="1400" dirty="0">
                <a:solidFill>
                  <a:srgbClr val="C00000"/>
                </a:solidFill>
              </a:rPr>
              <a:t>This example for stepper motor-based monochromator controller project: </a:t>
            </a:r>
            <a:r>
              <a:rPr lang="en-US" sz="1400" dirty="0" err="1">
                <a:solidFill>
                  <a:srgbClr val="C00000"/>
                </a:solidFill>
              </a:rPr>
              <a:t>arduino</a:t>
            </a:r>
            <a:r>
              <a:rPr lang="en-US" sz="1400" dirty="0">
                <a:solidFill>
                  <a:srgbClr val="C00000"/>
                </a:solidFill>
              </a:rPr>
              <a:t>-mono-</a:t>
            </a:r>
            <a:r>
              <a:rPr lang="en-US" sz="1400" dirty="0" err="1">
                <a:solidFill>
                  <a:srgbClr val="C00000"/>
                </a:solidFill>
              </a:rPr>
              <a:t>svn</a:t>
            </a:r>
            <a:endParaRPr lang="en-US" sz="1400" dirty="0">
              <a:solidFill>
                <a:srgbClr val="C00000"/>
              </a:solidFill>
            </a:endParaRPr>
          </a:p>
        </p:txBody>
      </p:sp>
      <p:sp>
        <p:nvSpPr>
          <p:cNvPr id="9" name="TextBox 8">
            <a:extLst>
              <a:ext uri="{FF2B5EF4-FFF2-40B4-BE49-F238E27FC236}">
                <a16:creationId xmlns:a16="http://schemas.microsoft.com/office/drawing/2014/main" id="{A2BAE837-CFB5-7F4D-C2FD-54BB07570FB0}"/>
              </a:ext>
            </a:extLst>
          </p:cNvPr>
          <p:cNvSpPr txBox="1"/>
          <p:nvPr/>
        </p:nvSpPr>
        <p:spPr>
          <a:xfrm>
            <a:off x="304800" y="1107440"/>
            <a:ext cx="3618614" cy="1631216"/>
          </a:xfrm>
          <a:prstGeom prst="rect">
            <a:avLst/>
          </a:prstGeom>
          <a:noFill/>
        </p:spPr>
        <p:txBody>
          <a:bodyPr wrap="square" rtlCol="0">
            <a:spAutoFit/>
          </a:bodyPr>
          <a:lstStyle/>
          <a:p>
            <a:r>
              <a:rPr lang="en-US" sz="1000" dirty="0"/>
              <a:t>Digital pins 2-7: LCD output</a:t>
            </a:r>
          </a:p>
          <a:p>
            <a:r>
              <a:rPr lang="en-US" sz="1000" dirty="0"/>
              <a:t>Analog inputs A0-A5 (pins 15-19): Inputs</a:t>
            </a:r>
          </a:p>
          <a:p>
            <a:pPr lvl="1"/>
            <a:r>
              <a:rPr lang="en-US" sz="1000" dirty="0"/>
              <a:t>A0-A3: pushbuttons</a:t>
            </a:r>
          </a:p>
          <a:p>
            <a:pPr lvl="1"/>
            <a:r>
              <a:rPr lang="en-US" sz="1000" dirty="0"/>
              <a:t>A5: toggle switch (mode switch)</a:t>
            </a:r>
          </a:p>
          <a:p>
            <a:pPr lvl="1"/>
            <a:r>
              <a:rPr lang="en-US" sz="1000" dirty="0"/>
              <a:t>A4: available (used for limit switch)</a:t>
            </a:r>
          </a:p>
          <a:p>
            <a:r>
              <a:rPr lang="en-US" sz="1000" dirty="0"/>
              <a:t>Pin 13: LED/TTL output</a:t>
            </a:r>
          </a:p>
          <a:p>
            <a:r>
              <a:rPr lang="en-US" sz="1000" dirty="0"/>
              <a:t>Pins 8-12: available (used for stepper motor control)</a:t>
            </a:r>
          </a:p>
          <a:p>
            <a:r>
              <a:rPr lang="en-US" sz="1000" dirty="0"/>
              <a:t>Pins 0-1: unused</a:t>
            </a:r>
          </a:p>
          <a:p>
            <a:endParaRPr lang="en-US" sz="1000" dirty="0"/>
          </a:p>
          <a:p>
            <a:endParaRPr lang="en-US" sz="1000" dirty="0"/>
          </a:p>
        </p:txBody>
      </p:sp>
      <p:sp>
        <p:nvSpPr>
          <p:cNvPr id="12" name="Slide Number Placeholder 11">
            <a:extLst>
              <a:ext uri="{FF2B5EF4-FFF2-40B4-BE49-F238E27FC236}">
                <a16:creationId xmlns:a16="http://schemas.microsoft.com/office/drawing/2014/main" id="{B381840C-3311-4AD4-1E29-E7856F3612A0}"/>
              </a:ext>
            </a:extLst>
          </p:cNvPr>
          <p:cNvSpPr>
            <a:spLocks noGrp="1"/>
          </p:cNvSpPr>
          <p:nvPr>
            <p:ph type="sldNum" sz="quarter" idx="12"/>
          </p:nvPr>
        </p:nvSpPr>
        <p:spPr/>
        <p:txBody>
          <a:bodyPr/>
          <a:lstStyle/>
          <a:p>
            <a:fld id="{EBFD857F-9F30-4CA0-835C-0D438159FA5B}" type="slidenum">
              <a:rPr lang="en-US" smtClean="0"/>
              <a:t>4</a:t>
            </a:fld>
            <a:endParaRPr lang="en-US"/>
          </a:p>
        </p:txBody>
      </p:sp>
      <p:sp>
        <p:nvSpPr>
          <p:cNvPr id="13" name="TextBox 12">
            <a:extLst>
              <a:ext uri="{FF2B5EF4-FFF2-40B4-BE49-F238E27FC236}">
                <a16:creationId xmlns:a16="http://schemas.microsoft.com/office/drawing/2014/main" id="{84F63830-8ED8-531C-D1C9-33BD8B21F999}"/>
              </a:ext>
            </a:extLst>
          </p:cNvPr>
          <p:cNvSpPr txBox="1"/>
          <p:nvPr/>
        </p:nvSpPr>
        <p:spPr>
          <a:xfrm>
            <a:off x="3552633" y="901649"/>
            <a:ext cx="4962717" cy="1292662"/>
          </a:xfrm>
          <a:prstGeom prst="rect">
            <a:avLst/>
          </a:prstGeom>
          <a:noFill/>
        </p:spPr>
        <p:txBody>
          <a:bodyPr wrap="square" rtlCol="0">
            <a:spAutoFit/>
          </a:bodyPr>
          <a:lstStyle/>
          <a:p>
            <a:r>
              <a:rPr lang="en-US" dirty="0"/>
              <a:t>Soldered implementation of LCD panel:</a:t>
            </a:r>
            <a:endParaRPr lang="en-US" sz="1000" dirty="0"/>
          </a:p>
          <a:p>
            <a:r>
              <a:rPr lang="en-US" sz="1000" dirty="0"/>
              <a:t>(rendered in Fritzing, but it doesn’t understand two-sided perf boards, so we manually include views from front and back: some components are shown on both sides to illustrate where they are located. Fritzing also does not render right-angle headers. The LCD panel has right-angle male headers for signal connection, so it can be plugged </a:t>
            </a:r>
            <a:r>
              <a:rPr lang="en-US" sz="1000" dirty="0" err="1"/>
              <a:t>directely</a:t>
            </a:r>
            <a:r>
              <a:rPr lang="en-US" sz="1000" dirty="0"/>
              <a:t> into the Arduino if desired, and both RA male and standing female headers for power) </a:t>
            </a:r>
          </a:p>
        </p:txBody>
      </p:sp>
      <p:sp>
        <p:nvSpPr>
          <p:cNvPr id="7" name="TextBox 6">
            <a:extLst>
              <a:ext uri="{FF2B5EF4-FFF2-40B4-BE49-F238E27FC236}">
                <a16:creationId xmlns:a16="http://schemas.microsoft.com/office/drawing/2014/main" id="{BD34ADF8-ED00-DD5C-5EA0-95C115E94D76}"/>
              </a:ext>
            </a:extLst>
          </p:cNvPr>
          <p:cNvSpPr txBox="1"/>
          <p:nvPr/>
        </p:nvSpPr>
        <p:spPr>
          <a:xfrm>
            <a:off x="304800" y="2446521"/>
            <a:ext cx="2119423" cy="2554545"/>
          </a:xfrm>
          <a:prstGeom prst="rect">
            <a:avLst/>
          </a:prstGeom>
          <a:noFill/>
        </p:spPr>
        <p:txBody>
          <a:bodyPr wrap="square" rtlCol="0">
            <a:spAutoFit/>
          </a:bodyPr>
          <a:lstStyle/>
          <a:p>
            <a:r>
              <a:rPr lang="en-US" sz="1000" dirty="0"/>
              <a:t>Idea is: </a:t>
            </a:r>
          </a:p>
          <a:p>
            <a:pPr marL="285750" indent="-285750">
              <a:buFontTx/>
              <a:buChar char="-"/>
            </a:pPr>
            <a:r>
              <a:rPr lang="en-US" sz="1000" dirty="0"/>
              <a:t>power, input “bus”, and LED out goes to button panel</a:t>
            </a:r>
          </a:p>
          <a:p>
            <a:pPr marL="285750" indent="-285750">
              <a:buFontTx/>
              <a:buChar char="-"/>
            </a:pPr>
            <a:r>
              <a:rPr lang="en-US" sz="1000" dirty="0"/>
              <a:t>LCD panel is powered from button panel</a:t>
            </a:r>
          </a:p>
          <a:p>
            <a:pPr marL="285750" indent="-285750">
              <a:buFontTx/>
              <a:buChar char="-"/>
            </a:pPr>
            <a:r>
              <a:rPr lang="en-US" sz="1000" dirty="0"/>
              <a:t>Additional inputs can be connected to the input “bus” via peripheral connections to the button panel</a:t>
            </a:r>
          </a:p>
          <a:p>
            <a:pPr marL="285750" indent="-285750">
              <a:buFontTx/>
              <a:buChar char="-"/>
            </a:pPr>
            <a:r>
              <a:rPr lang="en-US" sz="1000" dirty="0"/>
              <a:t>The “mode” toggle switch is one such peripheral input</a:t>
            </a:r>
          </a:p>
          <a:p>
            <a:pPr marL="285750" indent="-285750">
              <a:buFontTx/>
              <a:buChar char="-"/>
            </a:pPr>
            <a:r>
              <a:rPr lang="en-US" sz="1000" dirty="0"/>
              <a:t>All digital inputs are active low, configured as INPUT_PULLUP (supposed to be 20k-50k internal pull-ups to 5V)</a:t>
            </a:r>
          </a:p>
        </p:txBody>
      </p:sp>
      <p:pic>
        <p:nvPicPr>
          <p:cNvPr id="10" name="Picture 9" descr="A hand holding a circuit board&#10;&#10;Description automatically generated">
            <a:extLst>
              <a:ext uri="{FF2B5EF4-FFF2-40B4-BE49-F238E27FC236}">
                <a16:creationId xmlns:a16="http://schemas.microsoft.com/office/drawing/2014/main" id="{89CCCF85-B8E5-6D2D-566B-C30EF794DB07}"/>
              </a:ext>
            </a:extLst>
          </p:cNvPr>
          <p:cNvPicPr>
            <a:picLocks noChangeAspect="1"/>
          </p:cNvPicPr>
          <p:nvPr/>
        </p:nvPicPr>
        <p:blipFill>
          <a:blip r:embed="rId3">
            <a:extLst>
              <a:ext uri="{28A0092B-C50C-407E-A947-70E740481C1C}">
                <a14:useLocalDpi xmlns:a14="http://schemas.microsoft.com/office/drawing/2010/main" val="0"/>
              </a:ext>
            </a:extLst>
          </a:blip>
          <a:srcRect l="16077" t="7596" r="39682" b="7567"/>
          <a:stretch/>
        </p:blipFill>
        <p:spPr>
          <a:xfrm rot="10800000">
            <a:off x="6239678" y="3753080"/>
            <a:ext cx="1936974" cy="2785833"/>
          </a:xfrm>
          <a:prstGeom prst="rect">
            <a:avLst/>
          </a:prstGeom>
        </p:spPr>
      </p:pic>
      <p:sp>
        <p:nvSpPr>
          <p:cNvPr id="11" name="TextBox 10">
            <a:extLst>
              <a:ext uri="{FF2B5EF4-FFF2-40B4-BE49-F238E27FC236}">
                <a16:creationId xmlns:a16="http://schemas.microsoft.com/office/drawing/2014/main" id="{CF90BFA1-0570-D928-180C-4EF45EFC9784}"/>
              </a:ext>
            </a:extLst>
          </p:cNvPr>
          <p:cNvSpPr txBox="1"/>
          <p:nvPr/>
        </p:nvSpPr>
        <p:spPr>
          <a:xfrm>
            <a:off x="3552633" y="2046108"/>
            <a:ext cx="706860" cy="369332"/>
          </a:xfrm>
          <a:prstGeom prst="rect">
            <a:avLst/>
          </a:prstGeom>
          <a:noFill/>
        </p:spPr>
        <p:txBody>
          <a:bodyPr wrap="none" rtlCol="0">
            <a:spAutoFit/>
          </a:bodyPr>
          <a:lstStyle/>
          <a:p>
            <a:r>
              <a:rPr lang="en-US" dirty="0"/>
              <a:t>Front</a:t>
            </a:r>
          </a:p>
        </p:txBody>
      </p:sp>
      <p:sp>
        <p:nvSpPr>
          <p:cNvPr id="14" name="TextBox 13">
            <a:extLst>
              <a:ext uri="{FF2B5EF4-FFF2-40B4-BE49-F238E27FC236}">
                <a16:creationId xmlns:a16="http://schemas.microsoft.com/office/drawing/2014/main" id="{E40AE0EF-F393-F11E-874E-02671E93E8D5}"/>
              </a:ext>
            </a:extLst>
          </p:cNvPr>
          <p:cNvSpPr txBox="1"/>
          <p:nvPr/>
        </p:nvSpPr>
        <p:spPr>
          <a:xfrm>
            <a:off x="6541489" y="2029260"/>
            <a:ext cx="681597" cy="369332"/>
          </a:xfrm>
          <a:prstGeom prst="rect">
            <a:avLst/>
          </a:prstGeom>
          <a:noFill/>
        </p:spPr>
        <p:txBody>
          <a:bodyPr wrap="none" rtlCol="0">
            <a:spAutoFit/>
          </a:bodyPr>
          <a:lstStyle/>
          <a:p>
            <a:r>
              <a:rPr lang="en-US" dirty="0"/>
              <a:t>Back</a:t>
            </a:r>
          </a:p>
        </p:txBody>
      </p:sp>
      <p:sp>
        <p:nvSpPr>
          <p:cNvPr id="8" name="Freeform: Shape 7">
            <a:extLst>
              <a:ext uri="{FF2B5EF4-FFF2-40B4-BE49-F238E27FC236}">
                <a16:creationId xmlns:a16="http://schemas.microsoft.com/office/drawing/2014/main" id="{D259FEA0-E35E-1F5D-AC0A-51E15899D93B}"/>
              </a:ext>
            </a:extLst>
          </p:cNvPr>
          <p:cNvSpPr/>
          <p:nvPr/>
        </p:nvSpPr>
        <p:spPr>
          <a:xfrm>
            <a:off x="6871587" y="2253207"/>
            <a:ext cx="1402080" cy="386628"/>
          </a:xfrm>
          <a:custGeom>
            <a:avLst/>
            <a:gdLst>
              <a:gd name="connsiteX0" fmla="*/ 0 w 1402080"/>
              <a:gd name="connsiteY0" fmla="*/ 203200 h 386628"/>
              <a:gd name="connsiteX1" fmla="*/ 0 w 1402080"/>
              <a:gd name="connsiteY1" fmla="*/ 203200 h 386628"/>
              <a:gd name="connsiteX2" fmla="*/ 91440 w 1402080"/>
              <a:gd name="connsiteY2" fmla="*/ 121920 h 386628"/>
              <a:gd name="connsiteX3" fmla="*/ 121920 w 1402080"/>
              <a:gd name="connsiteY3" fmla="*/ 111760 h 386628"/>
              <a:gd name="connsiteX4" fmla="*/ 193040 w 1402080"/>
              <a:gd name="connsiteY4" fmla="*/ 91440 h 386628"/>
              <a:gd name="connsiteX5" fmla="*/ 416560 w 1402080"/>
              <a:gd name="connsiteY5" fmla="*/ 0 h 386628"/>
              <a:gd name="connsiteX6" fmla="*/ 944880 w 1402080"/>
              <a:gd name="connsiteY6" fmla="*/ 20320 h 386628"/>
              <a:gd name="connsiteX7" fmla="*/ 1280160 w 1402080"/>
              <a:gd name="connsiteY7" fmla="*/ 30480 h 386628"/>
              <a:gd name="connsiteX8" fmla="*/ 1391920 w 1402080"/>
              <a:gd name="connsiteY8" fmla="*/ 60960 h 386628"/>
              <a:gd name="connsiteX9" fmla="*/ 1402080 w 1402080"/>
              <a:gd name="connsiteY9" fmla="*/ 91440 h 386628"/>
              <a:gd name="connsiteX10" fmla="*/ 1391920 w 1402080"/>
              <a:gd name="connsiteY10" fmla="*/ 325120 h 386628"/>
              <a:gd name="connsiteX11" fmla="*/ 1361440 w 1402080"/>
              <a:gd name="connsiteY11" fmla="*/ 355600 h 386628"/>
              <a:gd name="connsiteX12" fmla="*/ 1330960 w 1402080"/>
              <a:gd name="connsiteY12" fmla="*/ 375920 h 386628"/>
              <a:gd name="connsiteX13" fmla="*/ 1239520 w 1402080"/>
              <a:gd name="connsiteY13" fmla="*/ 386080 h 386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2080" h="386628">
                <a:moveTo>
                  <a:pt x="0" y="203200"/>
                </a:moveTo>
                <a:lnTo>
                  <a:pt x="0" y="203200"/>
                </a:lnTo>
                <a:cubicBezTo>
                  <a:pt x="30480" y="176107"/>
                  <a:pt x="58815" y="146389"/>
                  <a:pt x="91440" y="121920"/>
                </a:cubicBezTo>
                <a:cubicBezTo>
                  <a:pt x="100008" y="115494"/>
                  <a:pt x="111622" y="114702"/>
                  <a:pt x="121920" y="111760"/>
                </a:cubicBezTo>
                <a:cubicBezTo>
                  <a:pt x="155639" y="102126"/>
                  <a:pt x="162590" y="103620"/>
                  <a:pt x="193040" y="91440"/>
                </a:cubicBezTo>
                <a:lnTo>
                  <a:pt x="416560" y="0"/>
                </a:lnTo>
                <a:cubicBezTo>
                  <a:pt x="701063" y="18967"/>
                  <a:pt x="500763" y="7631"/>
                  <a:pt x="944880" y="20320"/>
                </a:cubicBezTo>
                <a:lnTo>
                  <a:pt x="1280160" y="30480"/>
                </a:lnTo>
                <a:cubicBezTo>
                  <a:pt x="1307769" y="35082"/>
                  <a:pt x="1367446" y="40565"/>
                  <a:pt x="1391920" y="60960"/>
                </a:cubicBezTo>
                <a:cubicBezTo>
                  <a:pt x="1400147" y="67816"/>
                  <a:pt x="1398693" y="81280"/>
                  <a:pt x="1402080" y="91440"/>
                </a:cubicBezTo>
                <a:cubicBezTo>
                  <a:pt x="1398693" y="169333"/>
                  <a:pt x="1403775" y="248060"/>
                  <a:pt x="1391920" y="325120"/>
                </a:cubicBezTo>
                <a:cubicBezTo>
                  <a:pt x="1389735" y="339321"/>
                  <a:pt x="1372478" y="346402"/>
                  <a:pt x="1361440" y="355600"/>
                </a:cubicBezTo>
                <a:cubicBezTo>
                  <a:pt x="1352059" y="363417"/>
                  <a:pt x="1342183" y="371110"/>
                  <a:pt x="1330960" y="375920"/>
                </a:cubicBezTo>
                <a:cubicBezTo>
                  <a:pt x="1297670" y="390187"/>
                  <a:pt x="1275448" y="386080"/>
                  <a:pt x="1239520" y="38608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0FFD00A-0BA2-43B7-AAC4-237845C71598}"/>
              </a:ext>
            </a:extLst>
          </p:cNvPr>
          <p:cNvSpPr/>
          <p:nvPr/>
        </p:nvSpPr>
        <p:spPr>
          <a:xfrm flipH="1">
            <a:off x="4025076" y="2274928"/>
            <a:ext cx="1402080" cy="386628"/>
          </a:xfrm>
          <a:custGeom>
            <a:avLst/>
            <a:gdLst>
              <a:gd name="connsiteX0" fmla="*/ 0 w 1402080"/>
              <a:gd name="connsiteY0" fmla="*/ 203200 h 386628"/>
              <a:gd name="connsiteX1" fmla="*/ 0 w 1402080"/>
              <a:gd name="connsiteY1" fmla="*/ 203200 h 386628"/>
              <a:gd name="connsiteX2" fmla="*/ 91440 w 1402080"/>
              <a:gd name="connsiteY2" fmla="*/ 121920 h 386628"/>
              <a:gd name="connsiteX3" fmla="*/ 121920 w 1402080"/>
              <a:gd name="connsiteY3" fmla="*/ 111760 h 386628"/>
              <a:gd name="connsiteX4" fmla="*/ 193040 w 1402080"/>
              <a:gd name="connsiteY4" fmla="*/ 91440 h 386628"/>
              <a:gd name="connsiteX5" fmla="*/ 416560 w 1402080"/>
              <a:gd name="connsiteY5" fmla="*/ 0 h 386628"/>
              <a:gd name="connsiteX6" fmla="*/ 944880 w 1402080"/>
              <a:gd name="connsiteY6" fmla="*/ 20320 h 386628"/>
              <a:gd name="connsiteX7" fmla="*/ 1280160 w 1402080"/>
              <a:gd name="connsiteY7" fmla="*/ 30480 h 386628"/>
              <a:gd name="connsiteX8" fmla="*/ 1391920 w 1402080"/>
              <a:gd name="connsiteY8" fmla="*/ 60960 h 386628"/>
              <a:gd name="connsiteX9" fmla="*/ 1402080 w 1402080"/>
              <a:gd name="connsiteY9" fmla="*/ 91440 h 386628"/>
              <a:gd name="connsiteX10" fmla="*/ 1391920 w 1402080"/>
              <a:gd name="connsiteY10" fmla="*/ 325120 h 386628"/>
              <a:gd name="connsiteX11" fmla="*/ 1361440 w 1402080"/>
              <a:gd name="connsiteY11" fmla="*/ 355600 h 386628"/>
              <a:gd name="connsiteX12" fmla="*/ 1330960 w 1402080"/>
              <a:gd name="connsiteY12" fmla="*/ 375920 h 386628"/>
              <a:gd name="connsiteX13" fmla="*/ 1239520 w 1402080"/>
              <a:gd name="connsiteY13" fmla="*/ 386080 h 386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2080" h="386628">
                <a:moveTo>
                  <a:pt x="0" y="203200"/>
                </a:moveTo>
                <a:lnTo>
                  <a:pt x="0" y="203200"/>
                </a:lnTo>
                <a:cubicBezTo>
                  <a:pt x="30480" y="176107"/>
                  <a:pt x="58815" y="146389"/>
                  <a:pt x="91440" y="121920"/>
                </a:cubicBezTo>
                <a:cubicBezTo>
                  <a:pt x="100008" y="115494"/>
                  <a:pt x="111622" y="114702"/>
                  <a:pt x="121920" y="111760"/>
                </a:cubicBezTo>
                <a:cubicBezTo>
                  <a:pt x="155639" y="102126"/>
                  <a:pt x="162590" y="103620"/>
                  <a:pt x="193040" y="91440"/>
                </a:cubicBezTo>
                <a:lnTo>
                  <a:pt x="416560" y="0"/>
                </a:lnTo>
                <a:cubicBezTo>
                  <a:pt x="701063" y="18967"/>
                  <a:pt x="500763" y="7631"/>
                  <a:pt x="944880" y="20320"/>
                </a:cubicBezTo>
                <a:lnTo>
                  <a:pt x="1280160" y="30480"/>
                </a:lnTo>
                <a:cubicBezTo>
                  <a:pt x="1307769" y="35082"/>
                  <a:pt x="1367446" y="40565"/>
                  <a:pt x="1391920" y="60960"/>
                </a:cubicBezTo>
                <a:cubicBezTo>
                  <a:pt x="1400147" y="67816"/>
                  <a:pt x="1398693" y="81280"/>
                  <a:pt x="1402080" y="91440"/>
                </a:cubicBezTo>
                <a:cubicBezTo>
                  <a:pt x="1398693" y="169333"/>
                  <a:pt x="1403775" y="248060"/>
                  <a:pt x="1391920" y="325120"/>
                </a:cubicBezTo>
                <a:cubicBezTo>
                  <a:pt x="1389735" y="339321"/>
                  <a:pt x="1372478" y="346402"/>
                  <a:pt x="1361440" y="355600"/>
                </a:cubicBezTo>
                <a:cubicBezTo>
                  <a:pt x="1352059" y="363417"/>
                  <a:pt x="1342183" y="371110"/>
                  <a:pt x="1330960" y="375920"/>
                </a:cubicBezTo>
                <a:cubicBezTo>
                  <a:pt x="1297670" y="390187"/>
                  <a:pt x="1275448" y="386080"/>
                  <a:pt x="1239520" y="38608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7787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BD8C8-94E0-A094-40C0-F2E66C6F611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E2C25E9-C621-C4FD-712A-12B7500C5C1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49222" y="3069964"/>
            <a:ext cx="5023426" cy="2896026"/>
          </a:xfrm>
          <a:prstGeom prst="rect">
            <a:avLst/>
          </a:prstGeom>
        </p:spPr>
      </p:pic>
      <p:sp>
        <p:nvSpPr>
          <p:cNvPr id="4" name="TextBox 3">
            <a:extLst>
              <a:ext uri="{FF2B5EF4-FFF2-40B4-BE49-F238E27FC236}">
                <a16:creationId xmlns:a16="http://schemas.microsoft.com/office/drawing/2014/main" id="{17C60BB5-4D4D-B278-7620-31E34DA0062B}"/>
              </a:ext>
            </a:extLst>
          </p:cNvPr>
          <p:cNvSpPr txBox="1"/>
          <p:nvPr/>
        </p:nvSpPr>
        <p:spPr>
          <a:xfrm>
            <a:off x="233680" y="193040"/>
            <a:ext cx="6637907" cy="369332"/>
          </a:xfrm>
          <a:prstGeom prst="rect">
            <a:avLst/>
          </a:prstGeom>
          <a:noFill/>
        </p:spPr>
        <p:txBody>
          <a:bodyPr wrap="none" rtlCol="0">
            <a:spAutoFit/>
          </a:bodyPr>
          <a:lstStyle/>
          <a:p>
            <a:r>
              <a:rPr lang="en-US" dirty="0"/>
              <a:t>Hardware layout for modular Arduino lab instrument, Greytak lab </a:t>
            </a:r>
          </a:p>
        </p:txBody>
      </p:sp>
      <p:sp>
        <p:nvSpPr>
          <p:cNvPr id="5" name="TextBox 4">
            <a:extLst>
              <a:ext uri="{FF2B5EF4-FFF2-40B4-BE49-F238E27FC236}">
                <a16:creationId xmlns:a16="http://schemas.microsoft.com/office/drawing/2014/main" id="{A87F49D9-0DE5-CAA9-F26E-E346D1FFB5DA}"/>
              </a:ext>
            </a:extLst>
          </p:cNvPr>
          <p:cNvSpPr txBox="1"/>
          <p:nvPr/>
        </p:nvSpPr>
        <p:spPr>
          <a:xfrm>
            <a:off x="1581454" y="562372"/>
            <a:ext cx="7328866" cy="307777"/>
          </a:xfrm>
          <a:prstGeom prst="rect">
            <a:avLst/>
          </a:prstGeom>
          <a:noFill/>
        </p:spPr>
        <p:txBody>
          <a:bodyPr wrap="none" rtlCol="0">
            <a:spAutoFit/>
          </a:bodyPr>
          <a:lstStyle/>
          <a:p>
            <a:r>
              <a:rPr lang="en-US" sz="1400" dirty="0">
                <a:solidFill>
                  <a:srgbClr val="C00000"/>
                </a:solidFill>
              </a:rPr>
              <a:t>This example for stepper motor-based monochromator controller project: </a:t>
            </a:r>
            <a:r>
              <a:rPr lang="en-US" sz="1400" dirty="0" err="1">
                <a:solidFill>
                  <a:srgbClr val="C00000"/>
                </a:solidFill>
              </a:rPr>
              <a:t>arduino</a:t>
            </a:r>
            <a:r>
              <a:rPr lang="en-US" sz="1400" dirty="0">
                <a:solidFill>
                  <a:srgbClr val="C00000"/>
                </a:solidFill>
              </a:rPr>
              <a:t>-mono-</a:t>
            </a:r>
            <a:r>
              <a:rPr lang="en-US" sz="1400" dirty="0" err="1">
                <a:solidFill>
                  <a:srgbClr val="C00000"/>
                </a:solidFill>
              </a:rPr>
              <a:t>svn</a:t>
            </a:r>
            <a:endParaRPr lang="en-US" sz="1400" dirty="0">
              <a:solidFill>
                <a:srgbClr val="C00000"/>
              </a:solidFill>
            </a:endParaRPr>
          </a:p>
        </p:txBody>
      </p:sp>
      <p:sp>
        <p:nvSpPr>
          <p:cNvPr id="9" name="TextBox 8">
            <a:extLst>
              <a:ext uri="{FF2B5EF4-FFF2-40B4-BE49-F238E27FC236}">
                <a16:creationId xmlns:a16="http://schemas.microsoft.com/office/drawing/2014/main" id="{5F7F22D9-CB89-2F5C-6857-9A526C4A8C98}"/>
              </a:ext>
            </a:extLst>
          </p:cNvPr>
          <p:cNvSpPr txBox="1"/>
          <p:nvPr/>
        </p:nvSpPr>
        <p:spPr>
          <a:xfrm>
            <a:off x="304800" y="1107440"/>
            <a:ext cx="3618614" cy="1631216"/>
          </a:xfrm>
          <a:prstGeom prst="rect">
            <a:avLst/>
          </a:prstGeom>
          <a:noFill/>
        </p:spPr>
        <p:txBody>
          <a:bodyPr wrap="square" rtlCol="0">
            <a:spAutoFit/>
          </a:bodyPr>
          <a:lstStyle/>
          <a:p>
            <a:r>
              <a:rPr lang="en-US" sz="1000" dirty="0"/>
              <a:t>Digital pins 2-7: LCD output</a:t>
            </a:r>
          </a:p>
          <a:p>
            <a:r>
              <a:rPr lang="en-US" sz="1000" dirty="0"/>
              <a:t>Analog inputs A0-A5 (pins 15-19): Inputs</a:t>
            </a:r>
          </a:p>
          <a:p>
            <a:pPr lvl="1"/>
            <a:r>
              <a:rPr lang="en-US" sz="1000" dirty="0"/>
              <a:t>A0-A3: pushbuttons</a:t>
            </a:r>
          </a:p>
          <a:p>
            <a:pPr lvl="1"/>
            <a:r>
              <a:rPr lang="en-US" sz="1000" dirty="0"/>
              <a:t>A5: toggle switch (mode switch)</a:t>
            </a:r>
          </a:p>
          <a:p>
            <a:pPr lvl="1"/>
            <a:r>
              <a:rPr lang="en-US" sz="1000" dirty="0"/>
              <a:t>A4: available (used for limit switch)</a:t>
            </a:r>
          </a:p>
          <a:p>
            <a:r>
              <a:rPr lang="en-US" sz="1000" dirty="0"/>
              <a:t>Pin 13: LED/TTL output</a:t>
            </a:r>
          </a:p>
          <a:p>
            <a:r>
              <a:rPr lang="en-US" sz="1000" dirty="0"/>
              <a:t>Pins 8-12: available (used for stepper motor control)</a:t>
            </a:r>
          </a:p>
          <a:p>
            <a:r>
              <a:rPr lang="en-US" sz="1000" dirty="0"/>
              <a:t>Pins 0-1: unused</a:t>
            </a:r>
          </a:p>
          <a:p>
            <a:endParaRPr lang="en-US" sz="1000" dirty="0"/>
          </a:p>
          <a:p>
            <a:endParaRPr lang="en-US" sz="1000" dirty="0"/>
          </a:p>
        </p:txBody>
      </p:sp>
      <p:sp>
        <p:nvSpPr>
          <p:cNvPr id="12" name="Slide Number Placeholder 11">
            <a:extLst>
              <a:ext uri="{FF2B5EF4-FFF2-40B4-BE49-F238E27FC236}">
                <a16:creationId xmlns:a16="http://schemas.microsoft.com/office/drawing/2014/main" id="{229304A2-F21F-A3CA-3B1D-B2E46EBC447A}"/>
              </a:ext>
            </a:extLst>
          </p:cNvPr>
          <p:cNvSpPr>
            <a:spLocks noGrp="1"/>
          </p:cNvSpPr>
          <p:nvPr>
            <p:ph type="sldNum" sz="quarter" idx="12"/>
          </p:nvPr>
        </p:nvSpPr>
        <p:spPr/>
        <p:txBody>
          <a:bodyPr/>
          <a:lstStyle/>
          <a:p>
            <a:fld id="{EBFD857F-9F30-4CA0-835C-0D438159FA5B}" type="slidenum">
              <a:rPr lang="en-US" smtClean="0"/>
              <a:t>5</a:t>
            </a:fld>
            <a:endParaRPr lang="en-US"/>
          </a:p>
        </p:txBody>
      </p:sp>
      <p:sp>
        <p:nvSpPr>
          <p:cNvPr id="13" name="TextBox 12">
            <a:extLst>
              <a:ext uri="{FF2B5EF4-FFF2-40B4-BE49-F238E27FC236}">
                <a16:creationId xmlns:a16="http://schemas.microsoft.com/office/drawing/2014/main" id="{17F58D1B-56A2-1232-6002-8B21BC104684}"/>
              </a:ext>
            </a:extLst>
          </p:cNvPr>
          <p:cNvSpPr txBox="1"/>
          <p:nvPr/>
        </p:nvSpPr>
        <p:spPr>
          <a:xfrm>
            <a:off x="3552633" y="901649"/>
            <a:ext cx="4962717" cy="1446550"/>
          </a:xfrm>
          <a:prstGeom prst="rect">
            <a:avLst/>
          </a:prstGeom>
          <a:noFill/>
        </p:spPr>
        <p:txBody>
          <a:bodyPr wrap="square" rtlCol="0">
            <a:spAutoFit/>
          </a:bodyPr>
          <a:lstStyle/>
          <a:p>
            <a:r>
              <a:rPr lang="en-US" dirty="0"/>
              <a:t>Soldered implementation of LCD panel:</a:t>
            </a:r>
            <a:endParaRPr lang="en-US" sz="1000" dirty="0"/>
          </a:p>
          <a:p>
            <a:r>
              <a:rPr lang="en-US" sz="1000" dirty="0"/>
              <a:t>(rendered in Fritzing, but it doesn’t understand two-sided perf boards, so we manually include views from front and back: some components are shown on both sides to illustrate where they are located. Fritzing also does not render right-angle headers. The LCD panel has right-angle male headers for signal connection, so it can be plugged </a:t>
            </a:r>
            <a:r>
              <a:rPr lang="en-US" sz="1000" dirty="0" err="1"/>
              <a:t>directely</a:t>
            </a:r>
            <a:r>
              <a:rPr lang="en-US" sz="1000" dirty="0"/>
              <a:t> into the Arduino if desired, and both RA male and standing female headers for power) … </a:t>
            </a:r>
            <a:r>
              <a:rPr lang="en-US" sz="1000" b="1" dirty="0"/>
              <a:t>slight improvement</a:t>
            </a:r>
            <a:r>
              <a:rPr lang="en-US" sz="1000" dirty="0"/>
              <a:t> to move trim pot away from corner and have right-angle headers point in same direction to save space in project box</a:t>
            </a:r>
          </a:p>
        </p:txBody>
      </p:sp>
      <p:sp>
        <p:nvSpPr>
          <p:cNvPr id="7" name="TextBox 6">
            <a:extLst>
              <a:ext uri="{FF2B5EF4-FFF2-40B4-BE49-F238E27FC236}">
                <a16:creationId xmlns:a16="http://schemas.microsoft.com/office/drawing/2014/main" id="{48EC70A3-32B4-26E4-B3C6-5BEB83999283}"/>
              </a:ext>
            </a:extLst>
          </p:cNvPr>
          <p:cNvSpPr txBox="1"/>
          <p:nvPr/>
        </p:nvSpPr>
        <p:spPr>
          <a:xfrm>
            <a:off x="304800" y="2446521"/>
            <a:ext cx="2119423" cy="2554545"/>
          </a:xfrm>
          <a:prstGeom prst="rect">
            <a:avLst/>
          </a:prstGeom>
          <a:noFill/>
        </p:spPr>
        <p:txBody>
          <a:bodyPr wrap="square" rtlCol="0">
            <a:spAutoFit/>
          </a:bodyPr>
          <a:lstStyle/>
          <a:p>
            <a:r>
              <a:rPr lang="en-US" sz="1000" dirty="0"/>
              <a:t>Idea is: </a:t>
            </a:r>
          </a:p>
          <a:p>
            <a:pPr marL="285750" indent="-285750">
              <a:buFontTx/>
              <a:buChar char="-"/>
            </a:pPr>
            <a:r>
              <a:rPr lang="en-US" sz="1000" dirty="0"/>
              <a:t>power, input “bus”, and LED out goes to button panel</a:t>
            </a:r>
          </a:p>
          <a:p>
            <a:pPr marL="285750" indent="-285750">
              <a:buFontTx/>
              <a:buChar char="-"/>
            </a:pPr>
            <a:r>
              <a:rPr lang="en-US" sz="1000" dirty="0"/>
              <a:t>LCD panel is powered from button panel</a:t>
            </a:r>
          </a:p>
          <a:p>
            <a:pPr marL="285750" indent="-285750">
              <a:buFontTx/>
              <a:buChar char="-"/>
            </a:pPr>
            <a:r>
              <a:rPr lang="en-US" sz="1000" dirty="0"/>
              <a:t>Additional inputs can be connected to the input “bus” via peripheral connections to the button panel</a:t>
            </a:r>
          </a:p>
          <a:p>
            <a:pPr marL="285750" indent="-285750">
              <a:buFontTx/>
              <a:buChar char="-"/>
            </a:pPr>
            <a:r>
              <a:rPr lang="en-US" sz="1000" dirty="0"/>
              <a:t>The “mode” toggle switch is one such peripheral input</a:t>
            </a:r>
          </a:p>
          <a:p>
            <a:pPr marL="285750" indent="-285750">
              <a:buFontTx/>
              <a:buChar char="-"/>
            </a:pPr>
            <a:r>
              <a:rPr lang="en-US" sz="1000" dirty="0"/>
              <a:t>All digital inputs are active low, configured as INPUT_PULLUP (supposed to be 20k-50k internal pull-ups to 5V)</a:t>
            </a:r>
          </a:p>
        </p:txBody>
      </p:sp>
      <p:sp>
        <p:nvSpPr>
          <p:cNvPr id="11" name="TextBox 10">
            <a:extLst>
              <a:ext uri="{FF2B5EF4-FFF2-40B4-BE49-F238E27FC236}">
                <a16:creationId xmlns:a16="http://schemas.microsoft.com/office/drawing/2014/main" id="{F934B1F9-CC58-734D-B0B6-2BD483C4A56E}"/>
              </a:ext>
            </a:extLst>
          </p:cNvPr>
          <p:cNvSpPr txBox="1"/>
          <p:nvPr/>
        </p:nvSpPr>
        <p:spPr>
          <a:xfrm>
            <a:off x="3552633" y="2543383"/>
            <a:ext cx="706860" cy="369332"/>
          </a:xfrm>
          <a:prstGeom prst="rect">
            <a:avLst/>
          </a:prstGeom>
          <a:noFill/>
        </p:spPr>
        <p:txBody>
          <a:bodyPr wrap="none" rtlCol="0">
            <a:spAutoFit/>
          </a:bodyPr>
          <a:lstStyle/>
          <a:p>
            <a:r>
              <a:rPr lang="en-US" dirty="0"/>
              <a:t>Front</a:t>
            </a:r>
          </a:p>
        </p:txBody>
      </p:sp>
      <p:sp>
        <p:nvSpPr>
          <p:cNvPr id="14" name="TextBox 13">
            <a:extLst>
              <a:ext uri="{FF2B5EF4-FFF2-40B4-BE49-F238E27FC236}">
                <a16:creationId xmlns:a16="http://schemas.microsoft.com/office/drawing/2014/main" id="{C5CA768A-B0AB-28FF-6186-752925D17BC1}"/>
              </a:ext>
            </a:extLst>
          </p:cNvPr>
          <p:cNvSpPr txBox="1"/>
          <p:nvPr/>
        </p:nvSpPr>
        <p:spPr>
          <a:xfrm>
            <a:off x="6541489" y="2526535"/>
            <a:ext cx="681597" cy="369332"/>
          </a:xfrm>
          <a:prstGeom prst="rect">
            <a:avLst/>
          </a:prstGeom>
          <a:noFill/>
        </p:spPr>
        <p:txBody>
          <a:bodyPr wrap="none" rtlCol="0">
            <a:spAutoFit/>
          </a:bodyPr>
          <a:lstStyle/>
          <a:p>
            <a:r>
              <a:rPr lang="en-US" dirty="0"/>
              <a:t>Back</a:t>
            </a:r>
          </a:p>
        </p:txBody>
      </p:sp>
      <p:pic>
        <p:nvPicPr>
          <p:cNvPr id="6" name="Picture 5" descr="A close-up of a circuit board&#10;&#10;Description automatically generated">
            <a:extLst>
              <a:ext uri="{FF2B5EF4-FFF2-40B4-BE49-F238E27FC236}">
                <a16:creationId xmlns:a16="http://schemas.microsoft.com/office/drawing/2014/main" id="{083DFA6F-B012-6D34-5651-258B7BEC2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6930" y="4344000"/>
            <a:ext cx="2453949" cy="2030351"/>
          </a:xfrm>
          <a:prstGeom prst="rect">
            <a:avLst/>
          </a:prstGeom>
        </p:spPr>
      </p:pic>
    </p:spTree>
    <p:extLst>
      <p:ext uri="{BB962C8B-B14F-4D97-AF65-F5344CB8AC3E}">
        <p14:creationId xmlns:p14="http://schemas.microsoft.com/office/powerpoint/2010/main" val="189384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463F6-AE21-4CEC-0BB4-DA25283E40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C50912-941C-35FF-F2F8-EA6B33DE7C1B}"/>
              </a:ext>
            </a:extLst>
          </p:cNvPr>
          <p:cNvSpPr txBox="1"/>
          <p:nvPr/>
        </p:nvSpPr>
        <p:spPr>
          <a:xfrm>
            <a:off x="233680" y="193040"/>
            <a:ext cx="6637907" cy="369332"/>
          </a:xfrm>
          <a:prstGeom prst="rect">
            <a:avLst/>
          </a:prstGeom>
          <a:noFill/>
        </p:spPr>
        <p:txBody>
          <a:bodyPr wrap="none" rtlCol="0">
            <a:spAutoFit/>
          </a:bodyPr>
          <a:lstStyle/>
          <a:p>
            <a:r>
              <a:rPr lang="en-US" dirty="0"/>
              <a:t>Hardware layout for modular Arduino lab instrument, Greytak lab </a:t>
            </a:r>
          </a:p>
        </p:txBody>
      </p:sp>
      <p:sp>
        <p:nvSpPr>
          <p:cNvPr id="5" name="TextBox 4">
            <a:extLst>
              <a:ext uri="{FF2B5EF4-FFF2-40B4-BE49-F238E27FC236}">
                <a16:creationId xmlns:a16="http://schemas.microsoft.com/office/drawing/2014/main" id="{558789DE-60ED-AFA7-2239-E8D92FF38E1F}"/>
              </a:ext>
            </a:extLst>
          </p:cNvPr>
          <p:cNvSpPr txBox="1"/>
          <p:nvPr/>
        </p:nvSpPr>
        <p:spPr>
          <a:xfrm>
            <a:off x="1581454" y="562372"/>
            <a:ext cx="7328866" cy="307777"/>
          </a:xfrm>
          <a:prstGeom prst="rect">
            <a:avLst/>
          </a:prstGeom>
          <a:noFill/>
        </p:spPr>
        <p:txBody>
          <a:bodyPr wrap="none" rtlCol="0">
            <a:spAutoFit/>
          </a:bodyPr>
          <a:lstStyle/>
          <a:p>
            <a:r>
              <a:rPr lang="en-US" sz="1400" dirty="0">
                <a:solidFill>
                  <a:srgbClr val="C00000"/>
                </a:solidFill>
              </a:rPr>
              <a:t>This example for stepper motor-based monochromator controller project: </a:t>
            </a:r>
            <a:r>
              <a:rPr lang="en-US" sz="1400" dirty="0" err="1">
                <a:solidFill>
                  <a:srgbClr val="C00000"/>
                </a:solidFill>
              </a:rPr>
              <a:t>arduino</a:t>
            </a:r>
            <a:r>
              <a:rPr lang="en-US" sz="1400" dirty="0">
                <a:solidFill>
                  <a:srgbClr val="C00000"/>
                </a:solidFill>
              </a:rPr>
              <a:t>-mono-</a:t>
            </a:r>
            <a:r>
              <a:rPr lang="en-US" sz="1400" dirty="0" err="1">
                <a:solidFill>
                  <a:srgbClr val="C00000"/>
                </a:solidFill>
              </a:rPr>
              <a:t>svn</a:t>
            </a:r>
            <a:endParaRPr lang="en-US" sz="1400" dirty="0">
              <a:solidFill>
                <a:srgbClr val="C00000"/>
              </a:solidFill>
            </a:endParaRPr>
          </a:p>
        </p:txBody>
      </p:sp>
      <p:sp>
        <p:nvSpPr>
          <p:cNvPr id="9" name="TextBox 8">
            <a:extLst>
              <a:ext uri="{FF2B5EF4-FFF2-40B4-BE49-F238E27FC236}">
                <a16:creationId xmlns:a16="http://schemas.microsoft.com/office/drawing/2014/main" id="{C086B02F-EADB-0ABF-B228-E3F5C5EF434C}"/>
              </a:ext>
            </a:extLst>
          </p:cNvPr>
          <p:cNvSpPr txBox="1"/>
          <p:nvPr/>
        </p:nvSpPr>
        <p:spPr>
          <a:xfrm>
            <a:off x="304800" y="1107440"/>
            <a:ext cx="3618614" cy="1631216"/>
          </a:xfrm>
          <a:prstGeom prst="rect">
            <a:avLst/>
          </a:prstGeom>
          <a:noFill/>
        </p:spPr>
        <p:txBody>
          <a:bodyPr wrap="square" rtlCol="0">
            <a:spAutoFit/>
          </a:bodyPr>
          <a:lstStyle/>
          <a:p>
            <a:r>
              <a:rPr lang="en-US" sz="1000" dirty="0"/>
              <a:t>Digital pins 2-7: LCD output</a:t>
            </a:r>
          </a:p>
          <a:p>
            <a:r>
              <a:rPr lang="en-US" sz="1000" dirty="0"/>
              <a:t>Analog inputs A0-A5 (pins 15-19): Inputs</a:t>
            </a:r>
          </a:p>
          <a:p>
            <a:pPr lvl="1"/>
            <a:r>
              <a:rPr lang="en-US" sz="1000" dirty="0"/>
              <a:t>A0-A3: pushbuttons</a:t>
            </a:r>
          </a:p>
          <a:p>
            <a:pPr lvl="1"/>
            <a:r>
              <a:rPr lang="en-US" sz="1000" dirty="0"/>
              <a:t>A5: toggle switch (mode switch)</a:t>
            </a:r>
          </a:p>
          <a:p>
            <a:pPr lvl="1"/>
            <a:r>
              <a:rPr lang="en-US" sz="1000" dirty="0"/>
              <a:t>A4: available (used for limit switch)</a:t>
            </a:r>
          </a:p>
          <a:p>
            <a:r>
              <a:rPr lang="en-US" sz="1000" dirty="0"/>
              <a:t>Pin 13: LED/TTL output</a:t>
            </a:r>
          </a:p>
          <a:p>
            <a:r>
              <a:rPr lang="en-US" sz="1000" dirty="0"/>
              <a:t>Pins 8-12: available (used for stepper motor control)</a:t>
            </a:r>
          </a:p>
          <a:p>
            <a:r>
              <a:rPr lang="en-US" sz="1000" dirty="0"/>
              <a:t>Pins 0-1: unused</a:t>
            </a:r>
          </a:p>
          <a:p>
            <a:endParaRPr lang="en-US" sz="1000" dirty="0"/>
          </a:p>
          <a:p>
            <a:endParaRPr lang="en-US" sz="1000" dirty="0"/>
          </a:p>
        </p:txBody>
      </p:sp>
      <p:sp>
        <p:nvSpPr>
          <p:cNvPr id="12" name="Slide Number Placeholder 11">
            <a:extLst>
              <a:ext uri="{FF2B5EF4-FFF2-40B4-BE49-F238E27FC236}">
                <a16:creationId xmlns:a16="http://schemas.microsoft.com/office/drawing/2014/main" id="{8AA9BDAB-2B06-F636-A669-0867D7F9E46D}"/>
              </a:ext>
            </a:extLst>
          </p:cNvPr>
          <p:cNvSpPr>
            <a:spLocks noGrp="1"/>
          </p:cNvSpPr>
          <p:nvPr>
            <p:ph type="sldNum" sz="quarter" idx="12"/>
          </p:nvPr>
        </p:nvSpPr>
        <p:spPr/>
        <p:txBody>
          <a:bodyPr/>
          <a:lstStyle/>
          <a:p>
            <a:fld id="{EBFD857F-9F30-4CA0-835C-0D438159FA5B}" type="slidenum">
              <a:rPr lang="en-US" smtClean="0"/>
              <a:t>6</a:t>
            </a:fld>
            <a:endParaRPr lang="en-US"/>
          </a:p>
        </p:txBody>
      </p:sp>
      <p:sp>
        <p:nvSpPr>
          <p:cNvPr id="13" name="TextBox 12">
            <a:extLst>
              <a:ext uri="{FF2B5EF4-FFF2-40B4-BE49-F238E27FC236}">
                <a16:creationId xmlns:a16="http://schemas.microsoft.com/office/drawing/2014/main" id="{E30356EA-6C9E-37F1-738D-11EC35843E69}"/>
              </a:ext>
            </a:extLst>
          </p:cNvPr>
          <p:cNvSpPr txBox="1"/>
          <p:nvPr/>
        </p:nvSpPr>
        <p:spPr>
          <a:xfrm>
            <a:off x="3552633" y="901649"/>
            <a:ext cx="4962717" cy="1107996"/>
          </a:xfrm>
          <a:prstGeom prst="rect">
            <a:avLst/>
          </a:prstGeom>
          <a:noFill/>
        </p:spPr>
        <p:txBody>
          <a:bodyPr wrap="square" rtlCol="0">
            <a:spAutoFit/>
          </a:bodyPr>
          <a:lstStyle/>
          <a:p>
            <a:r>
              <a:rPr lang="en-US" dirty="0"/>
              <a:t>Soldered implementation of button panel (compact):</a:t>
            </a:r>
            <a:endParaRPr lang="en-US" sz="1000" dirty="0"/>
          </a:p>
          <a:p>
            <a:r>
              <a:rPr lang="en-US" sz="1000" dirty="0"/>
              <a:t>This arrangement was fairly difficult to solder and does not include an output header for the LED, which would be desirable if we want to be able to use that for external monitoring without splitting the wire from the Arduino to the button panel </a:t>
            </a:r>
          </a:p>
        </p:txBody>
      </p:sp>
      <p:sp>
        <p:nvSpPr>
          <p:cNvPr id="7" name="TextBox 6">
            <a:extLst>
              <a:ext uri="{FF2B5EF4-FFF2-40B4-BE49-F238E27FC236}">
                <a16:creationId xmlns:a16="http://schemas.microsoft.com/office/drawing/2014/main" id="{50A25761-153E-6307-4355-284810DDE550}"/>
              </a:ext>
            </a:extLst>
          </p:cNvPr>
          <p:cNvSpPr txBox="1"/>
          <p:nvPr/>
        </p:nvSpPr>
        <p:spPr>
          <a:xfrm>
            <a:off x="304800" y="2446521"/>
            <a:ext cx="2119423" cy="2554545"/>
          </a:xfrm>
          <a:prstGeom prst="rect">
            <a:avLst/>
          </a:prstGeom>
          <a:noFill/>
        </p:spPr>
        <p:txBody>
          <a:bodyPr wrap="square" rtlCol="0">
            <a:spAutoFit/>
          </a:bodyPr>
          <a:lstStyle/>
          <a:p>
            <a:r>
              <a:rPr lang="en-US" sz="1000" dirty="0"/>
              <a:t>Idea is: </a:t>
            </a:r>
          </a:p>
          <a:p>
            <a:pPr marL="285750" indent="-285750">
              <a:buFontTx/>
              <a:buChar char="-"/>
            </a:pPr>
            <a:r>
              <a:rPr lang="en-US" sz="1000" dirty="0"/>
              <a:t>power, input “bus”, and LED out goes to button panel</a:t>
            </a:r>
          </a:p>
          <a:p>
            <a:pPr marL="285750" indent="-285750">
              <a:buFontTx/>
              <a:buChar char="-"/>
            </a:pPr>
            <a:r>
              <a:rPr lang="en-US" sz="1000" dirty="0"/>
              <a:t>LCD panel is powered from button panel</a:t>
            </a:r>
          </a:p>
          <a:p>
            <a:pPr marL="285750" indent="-285750">
              <a:buFontTx/>
              <a:buChar char="-"/>
            </a:pPr>
            <a:r>
              <a:rPr lang="en-US" sz="1000" dirty="0"/>
              <a:t>Additional inputs can be connected to the input “bus” via peripheral connections to the button panel</a:t>
            </a:r>
          </a:p>
          <a:p>
            <a:pPr marL="285750" indent="-285750">
              <a:buFontTx/>
              <a:buChar char="-"/>
            </a:pPr>
            <a:r>
              <a:rPr lang="en-US" sz="1000" dirty="0"/>
              <a:t>The “mode” toggle switch is one such peripheral input</a:t>
            </a:r>
          </a:p>
          <a:p>
            <a:pPr marL="285750" indent="-285750">
              <a:buFontTx/>
              <a:buChar char="-"/>
            </a:pPr>
            <a:r>
              <a:rPr lang="en-US" sz="1000" dirty="0"/>
              <a:t>All digital inputs are active low, configured as INPUT_PULLUP (supposed to be 20k-50k internal pull-ups to 5V)</a:t>
            </a:r>
          </a:p>
        </p:txBody>
      </p:sp>
      <p:sp>
        <p:nvSpPr>
          <p:cNvPr id="11" name="TextBox 10">
            <a:extLst>
              <a:ext uri="{FF2B5EF4-FFF2-40B4-BE49-F238E27FC236}">
                <a16:creationId xmlns:a16="http://schemas.microsoft.com/office/drawing/2014/main" id="{FDC3B713-4A48-1189-9969-FEC62481EEA5}"/>
              </a:ext>
            </a:extLst>
          </p:cNvPr>
          <p:cNvSpPr txBox="1"/>
          <p:nvPr/>
        </p:nvSpPr>
        <p:spPr>
          <a:xfrm>
            <a:off x="5997308" y="2046108"/>
            <a:ext cx="3006016" cy="369332"/>
          </a:xfrm>
          <a:prstGeom prst="rect">
            <a:avLst/>
          </a:prstGeom>
          <a:noFill/>
        </p:spPr>
        <p:txBody>
          <a:bodyPr wrap="none" rtlCol="0">
            <a:spAutoFit/>
          </a:bodyPr>
          <a:lstStyle/>
          <a:p>
            <a:r>
              <a:rPr lang="en-US" dirty="0"/>
              <a:t>Front (with buttons and LED)</a:t>
            </a:r>
          </a:p>
        </p:txBody>
      </p:sp>
      <p:sp>
        <p:nvSpPr>
          <p:cNvPr id="14" name="TextBox 13">
            <a:extLst>
              <a:ext uri="{FF2B5EF4-FFF2-40B4-BE49-F238E27FC236}">
                <a16:creationId xmlns:a16="http://schemas.microsoft.com/office/drawing/2014/main" id="{733C7B0F-41ED-E544-9825-901CE1471EC3}"/>
              </a:ext>
            </a:extLst>
          </p:cNvPr>
          <p:cNvSpPr txBox="1"/>
          <p:nvPr/>
        </p:nvSpPr>
        <p:spPr>
          <a:xfrm>
            <a:off x="3582615" y="2029260"/>
            <a:ext cx="2142894" cy="369332"/>
          </a:xfrm>
          <a:prstGeom prst="rect">
            <a:avLst/>
          </a:prstGeom>
          <a:noFill/>
        </p:spPr>
        <p:txBody>
          <a:bodyPr wrap="none" rtlCol="0">
            <a:spAutoFit/>
          </a:bodyPr>
          <a:lstStyle/>
          <a:p>
            <a:r>
              <a:rPr lang="en-US" dirty="0"/>
              <a:t>Back (with headers)</a:t>
            </a:r>
          </a:p>
        </p:txBody>
      </p:sp>
      <p:pic>
        <p:nvPicPr>
          <p:cNvPr id="6" name="Picture 5" descr="A close-up of a circuit board&#10;&#10;Description automatically generated">
            <a:extLst>
              <a:ext uri="{FF2B5EF4-FFF2-40B4-BE49-F238E27FC236}">
                <a16:creationId xmlns:a16="http://schemas.microsoft.com/office/drawing/2014/main" id="{99FDE494-CE5A-B409-4185-777F7C124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2633" y="2597145"/>
            <a:ext cx="4319164" cy="2788821"/>
          </a:xfrm>
          <a:prstGeom prst="rect">
            <a:avLst/>
          </a:prstGeom>
        </p:spPr>
      </p:pic>
      <p:sp>
        <p:nvSpPr>
          <p:cNvPr id="8" name="TextBox 7">
            <a:extLst>
              <a:ext uri="{FF2B5EF4-FFF2-40B4-BE49-F238E27FC236}">
                <a16:creationId xmlns:a16="http://schemas.microsoft.com/office/drawing/2014/main" id="{3A2E5C88-2D4B-9C87-8CBC-5EB81FC0239A}"/>
              </a:ext>
            </a:extLst>
          </p:cNvPr>
          <p:cNvSpPr txBox="1"/>
          <p:nvPr/>
        </p:nvSpPr>
        <p:spPr>
          <a:xfrm>
            <a:off x="7233044" y="2330040"/>
            <a:ext cx="308098" cy="369332"/>
          </a:xfrm>
          <a:prstGeom prst="rect">
            <a:avLst/>
          </a:prstGeom>
          <a:noFill/>
        </p:spPr>
        <p:txBody>
          <a:bodyPr wrap="none" rtlCol="0">
            <a:spAutoFit/>
          </a:bodyPr>
          <a:lstStyle/>
          <a:p>
            <a:r>
              <a:rPr lang="en-US" dirty="0"/>
              <a:t>+</a:t>
            </a:r>
          </a:p>
        </p:txBody>
      </p:sp>
      <p:sp>
        <p:nvSpPr>
          <p:cNvPr id="15" name="TextBox 14">
            <a:extLst>
              <a:ext uri="{FF2B5EF4-FFF2-40B4-BE49-F238E27FC236}">
                <a16:creationId xmlns:a16="http://schemas.microsoft.com/office/drawing/2014/main" id="{513E80A8-107B-A3CE-04C9-01050EA0DF10}"/>
              </a:ext>
            </a:extLst>
          </p:cNvPr>
          <p:cNvSpPr txBox="1"/>
          <p:nvPr/>
        </p:nvSpPr>
        <p:spPr>
          <a:xfrm>
            <a:off x="7389751" y="2299538"/>
            <a:ext cx="263214" cy="369332"/>
          </a:xfrm>
          <a:prstGeom prst="rect">
            <a:avLst/>
          </a:prstGeom>
          <a:noFill/>
        </p:spPr>
        <p:txBody>
          <a:bodyPr wrap="none" rtlCol="0">
            <a:spAutoFit/>
          </a:bodyPr>
          <a:lstStyle/>
          <a:p>
            <a:r>
              <a:rPr lang="en-US" dirty="0"/>
              <a:t>-</a:t>
            </a:r>
          </a:p>
        </p:txBody>
      </p:sp>
      <p:sp>
        <p:nvSpPr>
          <p:cNvPr id="16" name="TextBox 15">
            <a:extLst>
              <a:ext uri="{FF2B5EF4-FFF2-40B4-BE49-F238E27FC236}">
                <a16:creationId xmlns:a16="http://schemas.microsoft.com/office/drawing/2014/main" id="{5634C375-7F78-B375-AC37-27798ABE9D08}"/>
              </a:ext>
            </a:extLst>
          </p:cNvPr>
          <p:cNvSpPr txBox="1"/>
          <p:nvPr/>
        </p:nvSpPr>
        <p:spPr>
          <a:xfrm>
            <a:off x="5512478" y="2514706"/>
            <a:ext cx="442750" cy="369332"/>
          </a:xfrm>
          <a:prstGeom prst="rect">
            <a:avLst/>
          </a:prstGeom>
          <a:noFill/>
        </p:spPr>
        <p:txBody>
          <a:bodyPr wrap="none" rtlCol="0">
            <a:spAutoFit/>
          </a:bodyPr>
          <a:lstStyle/>
          <a:p>
            <a:r>
              <a:rPr lang="en-US" dirty="0"/>
              <a:t>5V</a:t>
            </a:r>
          </a:p>
        </p:txBody>
      </p:sp>
      <p:sp>
        <p:nvSpPr>
          <p:cNvPr id="17" name="TextBox 16">
            <a:extLst>
              <a:ext uri="{FF2B5EF4-FFF2-40B4-BE49-F238E27FC236}">
                <a16:creationId xmlns:a16="http://schemas.microsoft.com/office/drawing/2014/main" id="{E6BB2DC3-23CC-3613-5EB7-DACF0414684C}"/>
              </a:ext>
            </a:extLst>
          </p:cNvPr>
          <p:cNvSpPr txBox="1"/>
          <p:nvPr/>
        </p:nvSpPr>
        <p:spPr>
          <a:xfrm>
            <a:off x="5398665" y="2738656"/>
            <a:ext cx="670376" cy="369332"/>
          </a:xfrm>
          <a:prstGeom prst="rect">
            <a:avLst/>
          </a:prstGeom>
          <a:noFill/>
        </p:spPr>
        <p:txBody>
          <a:bodyPr wrap="none" rtlCol="0">
            <a:spAutoFit/>
          </a:bodyPr>
          <a:lstStyle/>
          <a:p>
            <a:r>
              <a:rPr lang="en-US" dirty="0"/>
              <a:t>GND</a:t>
            </a:r>
          </a:p>
        </p:txBody>
      </p:sp>
      <p:sp>
        <p:nvSpPr>
          <p:cNvPr id="18" name="TextBox 17">
            <a:extLst>
              <a:ext uri="{FF2B5EF4-FFF2-40B4-BE49-F238E27FC236}">
                <a16:creationId xmlns:a16="http://schemas.microsoft.com/office/drawing/2014/main" id="{83FA57ED-8AF8-1ABC-7F1C-256E180139AA}"/>
              </a:ext>
            </a:extLst>
          </p:cNvPr>
          <p:cNvSpPr txBox="1"/>
          <p:nvPr/>
        </p:nvSpPr>
        <p:spPr>
          <a:xfrm>
            <a:off x="5390321" y="2907886"/>
            <a:ext cx="693203" cy="369332"/>
          </a:xfrm>
          <a:prstGeom prst="rect">
            <a:avLst/>
          </a:prstGeom>
          <a:noFill/>
        </p:spPr>
        <p:txBody>
          <a:bodyPr wrap="none" rtlCol="0">
            <a:spAutoFit/>
          </a:bodyPr>
          <a:lstStyle/>
          <a:p>
            <a:r>
              <a:rPr lang="en-US" dirty="0" err="1"/>
              <a:t>Perif</a:t>
            </a:r>
            <a:r>
              <a:rPr lang="en-US" dirty="0"/>
              <a:t>.</a:t>
            </a:r>
          </a:p>
        </p:txBody>
      </p:sp>
      <p:sp>
        <p:nvSpPr>
          <p:cNvPr id="19" name="TextBox 18">
            <a:extLst>
              <a:ext uri="{FF2B5EF4-FFF2-40B4-BE49-F238E27FC236}">
                <a16:creationId xmlns:a16="http://schemas.microsoft.com/office/drawing/2014/main" id="{DCDD9A93-AD48-FE92-2F71-E4F4661B2B18}"/>
              </a:ext>
            </a:extLst>
          </p:cNvPr>
          <p:cNvSpPr txBox="1"/>
          <p:nvPr/>
        </p:nvSpPr>
        <p:spPr>
          <a:xfrm>
            <a:off x="5444966" y="3102672"/>
            <a:ext cx="590290" cy="369332"/>
          </a:xfrm>
          <a:prstGeom prst="rect">
            <a:avLst/>
          </a:prstGeom>
          <a:noFill/>
        </p:spPr>
        <p:txBody>
          <a:bodyPr wrap="none" rtlCol="0">
            <a:spAutoFit/>
          </a:bodyPr>
          <a:lstStyle/>
          <a:p>
            <a:r>
              <a:rPr lang="en-US" dirty="0"/>
              <a:t>Ard.</a:t>
            </a:r>
          </a:p>
        </p:txBody>
      </p:sp>
      <p:sp>
        <p:nvSpPr>
          <p:cNvPr id="20" name="TextBox 19">
            <a:extLst>
              <a:ext uri="{FF2B5EF4-FFF2-40B4-BE49-F238E27FC236}">
                <a16:creationId xmlns:a16="http://schemas.microsoft.com/office/drawing/2014/main" id="{24582F51-E187-B7D4-CC62-C52285BC2F3F}"/>
              </a:ext>
            </a:extLst>
          </p:cNvPr>
          <p:cNvSpPr txBox="1"/>
          <p:nvPr/>
        </p:nvSpPr>
        <p:spPr>
          <a:xfrm>
            <a:off x="4076911" y="3082448"/>
            <a:ext cx="1218091" cy="184666"/>
          </a:xfrm>
          <a:prstGeom prst="rect">
            <a:avLst/>
          </a:prstGeom>
          <a:solidFill>
            <a:schemeClr val="bg1"/>
          </a:solidFill>
        </p:spPr>
        <p:txBody>
          <a:bodyPr wrap="square" rtlCol="0">
            <a:spAutoFit/>
          </a:bodyPr>
          <a:lstStyle/>
          <a:p>
            <a:pPr algn="r"/>
            <a:r>
              <a:rPr lang="en-US" sz="600" dirty="0">
                <a:solidFill>
                  <a:srgbClr val="FF0000"/>
                </a:solidFill>
                <a:latin typeface="Arial Narrow" panose="020B0606020202030204" pitchFamily="34" charset="0"/>
              </a:rPr>
              <a:t>LED  G   5V   A0   A1  A2  A3  A4  A5</a:t>
            </a:r>
          </a:p>
        </p:txBody>
      </p:sp>
      <p:sp>
        <p:nvSpPr>
          <p:cNvPr id="21" name="TextBox 20">
            <a:extLst>
              <a:ext uri="{FF2B5EF4-FFF2-40B4-BE49-F238E27FC236}">
                <a16:creationId xmlns:a16="http://schemas.microsoft.com/office/drawing/2014/main" id="{FF1F1A1E-AA73-8F3F-648C-0BB11E146327}"/>
              </a:ext>
            </a:extLst>
          </p:cNvPr>
          <p:cNvSpPr txBox="1"/>
          <p:nvPr/>
        </p:nvSpPr>
        <p:spPr>
          <a:xfrm>
            <a:off x="6192787" y="3472004"/>
            <a:ext cx="1282723" cy="184666"/>
          </a:xfrm>
          <a:prstGeom prst="rect">
            <a:avLst/>
          </a:prstGeom>
          <a:solidFill>
            <a:schemeClr val="bg1"/>
          </a:solidFill>
        </p:spPr>
        <p:txBody>
          <a:bodyPr wrap="none" rtlCol="0">
            <a:spAutoFit/>
          </a:bodyPr>
          <a:lstStyle/>
          <a:p>
            <a:r>
              <a:rPr lang="en-US" sz="600" dirty="0">
                <a:solidFill>
                  <a:srgbClr val="FF0000"/>
                </a:solidFill>
                <a:latin typeface="Arial Narrow" panose="020B0606020202030204" pitchFamily="34" charset="0"/>
              </a:rPr>
              <a:t>A5   A4   A3  A2   A1  A0  5V   G   LED</a:t>
            </a:r>
          </a:p>
        </p:txBody>
      </p:sp>
    </p:spTree>
    <p:extLst>
      <p:ext uri="{BB962C8B-B14F-4D97-AF65-F5344CB8AC3E}">
        <p14:creationId xmlns:p14="http://schemas.microsoft.com/office/powerpoint/2010/main" val="2370736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2C426-6896-5829-62D0-1C780BDB1F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2A77DE-3F66-4ADC-BCCD-11A8262056C2}"/>
              </a:ext>
            </a:extLst>
          </p:cNvPr>
          <p:cNvSpPr txBox="1"/>
          <p:nvPr/>
        </p:nvSpPr>
        <p:spPr>
          <a:xfrm>
            <a:off x="233680" y="193040"/>
            <a:ext cx="6637907" cy="369332"/>
          </a:xfrm>
          <a:prstGeom prst="rect">
            <a:avLst/>
          </a:prstGeom>
          <a:noFill/>
        </p:spPr>
        <p:txBody>
          <a:bodyPr wrap="none" rtlCol="0">
            <a:spAutoFit/>
          </a:bodyPr>
          <a:lstStyle/>
          <a:p>
            <a:r>
              <a:rPr lang="en-US" dirty="0"/>
              <a:t>Hardware layout for modular Arduino lab instrument, Greytak lab </a:t>
            </a:r>
          </a:p>
        </p:txBody>
      </p:sp>
      <p:sp>
        <p:nvSpPr>
          <p:cNvPr id="5" name="TextBox 4">
            <a:extLst>
              <a:ext uri="{FF2B5EF4-FFF2-40B4-BE49-F238E27FC236}">
                <a16:creationId xmlns:a16="http://schemas.microsoft.com/office/drawing/2014/main" id="{541E976E-87F8-DDE2-8283-A6187E84E6A7}"/>
              </a:ext>
            </a:extLst>
          </p:cNvPr>
          <p:cNvSpPr txBox="1"/>
          <p:nvPr/>
        </p:nvSpPr>
        <p:spPr>
          <a:xfrm>
            <a:off x="1581454" y="562372"/>
            <a:ext cx="7328866" cy="307777"/>
          </a:xfrm>
          <a:prstGeom prst="rect">
            <a:avLst/>
          </a:prstGeom>
          <a:noFill/>
        </p:spPr>
        <p:txBody>
          <a:bodyPr wrap="none" rtlCol="0">
            <a:spAutoFit/>
          </a:bodyPr>
          <a:lstStyle/>
          <a:p>
            <a:r>
              <a:rPr lang="en-US" sz="1400" dirty="0">
                <a:solidFill>
                  <a:srgbClr val="C00000"/>
                </a:solidFill>
              </a:rPr>
              <a:t>This example for stepper motor-based monochromator controller project: </a:t>
            </a:r>
            <a:r>
              <a:rPr lang="en-US" sz="1400" dirty="0" err="1">
                <a:solidFill>
                  <a:srgbClr val="C00000"/>
                </a:solidFill>
              </a:rPr>
              <a:t>arduino</a:t>
            </a:r>
            <a:r>
              <a:rPr lang="en-US" sz="1400" dirty="0">
                <a:solidFill>
                  <a:srgbClr val="C00000"/>
                </a:solidFill>
              </a:rPr>
              <a:t>-mono-</a:t>
            </a:r>
            <a:r>
              <a:rPr lang="en-US" sz="1400" dirty="0" err="1">
                <a:solidFill>
                  <a:srgbClr val="C00000"/>
                </a:solidFill>
              </a:rPr>
              <a:t>svn</a:t>
            </a:r>
            <a:endParaRPr lang="en-US" sz="1400" dirty="0">
              <a:solidFill>
                <a:srgbClr val="C00000"/>
              </a:solidFill>
            </a:endParaRPr>
          </a:p>
        </p:txBody>
      </p:sp>
      <p:sp>
        <p:nvSpPr>
          <p:cNvPr id="9" name="TextBox 8">
            <a:extLst>
              <a:ext uri="{FF2B5EF4-FFF2-40B4-BE49-F238E27FC236}">
                <a16:creationId xmlns:a16="http://schemas.microsoft.com/office/drawing/2014/main" id="{4D3E22B2-126A-A6D8-4713-7C830669245F}"/>
              </a:ext>
            </a:extLst>
          </p:cNvPr>
          <p:cNvSpPr txBox="1"/>
          <p:nvPr/>
        </p:nvSpPr>
        <p:spPr>
          <a:xfrm>
            <a:off x="304800" y="1107440"/>
            <a:ext cx="3618614" cy="1631216"/>
          </a:xfrm>
          <a:prstGeom prst="rect">
            <a:avLst/>
          </a:prstGeom>
          <a:noFill/>
        </p:spPr>
        <p:txBody>
          <a:bodyPr wrap="square" rtlCol="0">
            <a:spAutoFit/>
          </a:bodyPr>
          <a:lstStyle/>
          <a:p>
            <a:r>
              <a:rPr lang="en-US" sz="1000" dirty="0"/>
              <a:t>Digital pins 2-7: LCD output</a:t>
            </a:r>
          </a:p>
          <a:p>
            <a:r>
              <a:rPr lang="en-US" sz="1000" dirty="0"/>
              <a:t>Analog inputs A0-A5 (pins 15-19): Inputs</a:t>
            </a:r>
          </a:p>
          <a:p>
            <a:pPr lvl="1"/>
            <a:r>
              <a:rPr lang="en-US" sz="1000" dirty="0"/>
              <a:t>A0-A3: pushbuttons</a:t>
            </a:r>
          </a:p>
          <a:p>
            <a:pPr lvl="1"/>
            <a:r>
              <a:rPr lang="en-US" sz="1000" dirty="0"/>
              <a:t>A5: toggle switch (mode switch)</a:t>
            </a:r>
          </a:p>
          <a:p>
            <a:pPr lvl="1"/>
            <a:r>
              <a:rPr lang="en-US" sz="1000" dirty="0"/>
              <a:t>A4: available (used for limit switch)</a:t>
            </a:r>
          </a:p>
          <a:p>
            <a:r>
              <a:rPr lang="en-US" sz="1000" dirty="0"/>
              <a:t>Pin 13: LED/TTL output</a:t>
            </a:r>
          </a:p>
          <a:p>
            <a:r>
              <a:rPr lang="en-US" sz="1000" dirty="0"/>
              <a:t>Pins 8-12: available (used for stepper motor control)</a:t>
            </a:r>
          </a:p>
          <a:p>
            <a:r>
              <a:rPr lang="en-US" sz="1000" dirty="0"/>
              <a:t>Pins 0-1: unused</a:t>
            </a:r>
          </a:p>
          <a:p>
            <a:endParaRPr lang="en-US" sz="1000" dirty="0"/>
          </a:p>
          <a:p>
            <a:endParaRPr lang="en-US" sz="1000" dirty="0"/>
          </a:p>
        </p:txBody>
      </p:sp>
      <p:sp>
        <p:nvSpPr>
          <p:cNvPr id="12" name="Slide Number Placeholder 11">
            <a:extLst>
              <a:ext uri="{FF2B5EF4-FFF2-40B4-BE49-F238E27FC236}">
                <a16:creationId xmlns:a16="http://schemas.microsoft.com/office/drawing/2014/main" id="{E063B461-3C0A-3E0D-79D3-2EA9B79D62D5}"/>
              </a:ext>
            </a:extLst>
          </p:cNvPr>
          <p:cNvSpPr>
            <a:spLocks noGrp="1"/>
          </p:cNvSpPr>
          <p:nvPr>
            <p:ph type="sldNum" sz="quarter" idx="12"/>
          </p:nvPr>
        </p:nvSpPr>
        <p:spPr/>
        <p:txBody>
          <a:bodyPr/>
          <a:lstStyle/>
          <a:p>
            <a:fld id="{EBFD857F-9F30-4CA0-835C-0D438159FA5B}" type="slidenum">
              <a:rPr lang="en-US" smtClean="0"/>
              <a:t>7</a:t>
            </a:fld>
            <a:endParaRPr lang="en-US"/>
          </a:p>
        </p:txBody>
      </p:sp>
      <p:sp>
        <p:nvSpPr>
          <p:cNvPr id="13" name="TextBox 12">
            <a:extLst>
              <a:ext uri="{FF2B5EF4-FFF2-40B4-BE49-F238E27FC236}">
                <a16:creationId xmlns:a16="http://schemas.microsoft.com/office/drawing/2014/main" id="{6D3D5823-66CA-F3A0-76A7-F8F3EEF2C95C}"/>
              </a:ext>
            </a:extLst>
          </p:cNvPr>
          <p:cNvSpPr txBox="1"/>
          <p:nvPr/>
        </p:nvSpPr>
        <p:spPr>
          <a:xfrm>
            <a:off x="3552633" y="901649"/>
            <a:ext cx="4962717" cy="646331"/>
          </a:xfrm>
          <a:prstGeom prst="rect">
            <a:avLst/>
          </a:prstGeom>
          <a:noFill/>
        </p:spPr>
        <p:txBody>
          <a:bodyPr wrap="square" rtlCol="0">
            <a:spAutoFit/>
          </a:bodyPr>
          <a:lstStyle/>
          <a:p>
            <a:r>
              <a:rPr lang="en-US" dirty="0"/>
              <a:t>Soldered implementation of button panel (half-breadboard size):</a:t>
            </a:r>
            <a:endParaRPr lang="en-US" sz="1000" dirty="0"/>
          </a:p>
        </p:txBody>
      </p:sp>
      <p:sp>
        <p:nvSpPr>
          <p:cNvPr id="7" name="TextBox 6">
            <a:extLst>
              <a:ext uri="{FF2B5EF4-FFF2-40B4-BE49-F238E27FC236}">
                <a16:creationId xmlns:a16="http://schemas.microsoft.com/office/drawing/2014/main" id="{4DB50995-FCBE-A159-14F3-5BF14BC9BE31}"/>
              </a:ext>
            </a:extLst>
          </p:cNvPr>
          <p:cNvSpPr txBox="1"/>
          <p:nvPr/>
        </p:nvSpPr>
        <p:spPr>
          <a:xfrm>
            <a:off x="304800" y="2446521"/>
            <a:ext cx="2119423" cy="2554545"/>
          </a:xfrm>
          <a:prstGeom prst="rect">
            <a:avLst/>
          </a:prstGeom>
          <a:noFill/>
        </p:spPr>
        <p:txBody>
          <a:bodyPr wrap="square" rtlCol="0">
            <a:spAutoFit/>
          </a:bodyPr>
          <a:lstStyle/>
          <a:p>
            <a:r>
              <a:rPr lang="en-US" sz="1000" dirty="0"/>
              <a:t>Idea is: </a:t>
            </a:r>
          </a:p>
          <a:p>
            <a:pPr marL="285750" indent="-285750">
              <a:buFontTx/>
              <a:buChar char="-"/>
            </a:pPr>
            <a:r>
              <a:rPr lang="en-US" sz="1000" dirty="0"/>
              <a:t>power, input “bus”, and LED out goes to button panel</a:t>
            </a:r>
          </a:p>
          <a:p>
            <a:pPr marL="285750" indent="-285750">
              <a:buFontTx/>
              <a:buChar char="-"/>
            </a:pPr>
            <a:r>
              <a:rPr lang="en-US" sz="1000" dirty="0"/>
              <a:t>LCD panel is powered from button panel</a:t>
            </a:r>
          </a:p>
          <a:p>
            <a:pPr marL="285750" indent="-285750">
              <a:buFontTx/>
              <a:buChar char="-"/>
            </a:pPr>
            <a:r>
              <a:rPr lang="en-US" sz="1000" dirty="0"/>
              <a:t>Additional inputs can be connected to the input “bus” via peripheral connections to the button panel</a:t>
            </a:r>
          </a:p>
          <a:p>
            <a:pPr marL="285750" indent="-285750">
              <a:buFontTx/>
              <a:buChar char="-"/>
            </a:pPr>
            <a:r>
              <a:rPr lang="en-US" sz="1000" dirty="0"/>
              <a:t>The “mode” toggle switch is one such peripheral input</a:t>
            </a:r>
          </a:p>
          <a:p>
            <a:pPr marL="285750" indent="-285750">
              <a:buFontTx/>
              <a:buChar char="-"/>
            </a:pPr>
            <a:r>
              <a:rPr lang="en-US" sz="1000" dirty="0"/>
              <a:t>All digital inputs are active low, configured as INPUT_PULLUP (supposed to be 20k-50k internal pull-ups to 5V)</a:t>
            </a:r>
          </a:p>
        </p:txBody>
      </p:sp>
      <p:sp>
        <p:nvSpPr>
          <p:cNvPr id="11" name="TextBox 10">
            <a:extLst>
              <a:ext uri="{FF2B5EF4-FFF2-40B4-BE49-F238E27FC236}">
                <a16:creationId xmlns:a16="http://schemas.microsoft.com/office/drawing/2014/main" id="{B1B38F03-ED06-B7B3-FA04-E3DE92DB3647}"/>
              </a:ext>
            </a:extLst>
          </p:cNvPr>
          <p:cNvSpPr txBox="1"/>
          <p:nvPr/>
        </p:nvSpPr>
        <p:spPr>
          <a:xfrm>
            <a:off x="5997308" y="2029259"/>
            <a:ext cx="3006016" cy="369332"/>
          </a:xfrm>
          <a:prstGeom prst="rect">
            <a:avLst/>
          </a:prstGeom>
          <a:noFill/>
        </p:spPr>
        <p:txBody>
          <a:bodyPr wrap="none" rtlCol="0">
            <a:spAutoFit/>
          </a:bodyPr>
          <a:lstStyle/>
          <a:p>
            <a:r>
              <a:rPr lang="en-US" dirty="0"/>
              <a:t>Front (with buttons and LED)</a:t>
            </a:r>
          </a:p>
        </p:txBody>
      </p:sp>
      <p:sp>
        <p:nvSpPr>
          <p:cNvPr id="14" name="TextBox 13">
            <a:extLst>
              <a:ext uri="{FF2B5EF4-FFF2-40B4-BE49-F238E27FC236}">
                <a16:creationId xmlns:a16="http://schemas.microsoft.com/office/drawing/2014/main" id="{CE419B4C-D6CB-3109-7A4C-67BED8B80BF8}"/>
              </a:ext>
            </a:extLst>
          </p:cNvPr>
          <p:cNvSpPr txBox="1"/>
          <p:nvPr/>
        </p:nvSpPr>
        <p:spPr>
          <a:xfrm>
            <a:off x="3582616" y="2029259"/>
            <a:ext cx="2414692" cy="923330"/>
          </a:xfrm>
          <a:prstGeom prst="rect">
            <a:avLst/>
          </a:prstGeom>
          <a:noFill/>
        </p:spPr>
        <p:txBody>
          <a:bodyPr wrap="square" rtlCol="0">
            <a:spAutoFit/>
          </a:bodyPr>
          <a:lstStyle/>
          <a:p>
            <a:r>
              <a:rPr lang="en-US" dirty="0"/>
              <a:t>Back (with headers: male headers are right-angle)</a:t>
            </a:r>
          </a:p>
        </p:txBody>
      </p:sp>
      <p:pic>
        <p:nvPicPr>
          <p:cNvPr id="3" name="Picture 2">
            <a:extLst>
              <a:ext uri="{FF2B5EF4-FFF2-40B4-BE49-F238E27FC236}">
                <a16:creationId xmlns:a16="http://schemas.microsoft.com/office/drawing/2014/main" id="{F8EFED01-00D0-8E57-ECC0-EDFCE51F037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86051" y="3880620"/>
            <a:ext cx="6038950" cy="2062658"/>
          </a:xfrm>
          <a:prstGeom prst="rect">
            <a:avLst/>
          </a:prstGeom>
        </p:spPr>
      </p:pic>
      <p:sp>
        <p:nvSpPr>
          <p:cNvPr id="19" name="TextBox 18">
            <a:extLst>
              <a:ext uri="{FF2B5EF4-FFF2-40B4-BE49-F238E27FC236}">
                <a16:creationId xmlns:a16="http://schemas.microsoft.com/office/drawing/2014/main" id="{0E311A0E-4B15-B406-089E-F3FA778B2CA3}"/>
              </a:ext>
            </a:extLst>
          </p:cNvPr>
          <p:cNvSpPr txBox="1"/>
          <p:nvPr/>
        </p:nvSpPr>
        <p:spPr>
          <a:xfrm>
            <a:off x="5407018" y="4388502"/>
            <a:ext cx="499624" cy="307777"/>
          </a:xfrm>
          <a:prstGeom prst="rect">
            <a:avLst/>
          </a:prstGeom>
          <a:noFill/>
        </p:spPr>
        <p:txBody>
          <a:bodyPr wrap="none" rtlCol="0">
            <a:spAutoFit/>
          </a:bodyPr>
          <a:lstStyle/>
          <a:p>
            <a:r>
              <a:rPr lang="en-US" sz="1400" dirty="0"/>
              <a:t>Ard.</a:t>
            </a:r>
          </a:p>
        </p:txBody>
      </p:sp>
      <p:sp>
        <p:nvSpPr>
          <p:cNvPr id="18" name="TextBox 17">
            <a:extLst>
              <a:ext uri="{FF2B5EF4-FFF2-40B4-BE49-F238E27FC236}">
                <a16:creationId xmlns:a16="http://schemas.microsoft.com/office/drawing/2014/main" id="{0835F96F-47E9-5E64-75CC-22E3FC9322E1}"/>
              </a:ext>
            </a:extLst>
          </p:cNvPr>
          <p:cNvSpPr txBox="1"/>
          <p:nvPr/>
        </p:nvSpPr>
        <p:spPr>
          <a:xfrm>
            <a:off x="5355561" y="4135072"/>
            <a:ext cx="577915" cy="307777"/>
          </a:xfrm>
          <a:prstGeom prst="rect">
            <a:avLst/>
          </a:prstGeom>
          <a:noFill/>
        </p:spPr>
        <p:txBody>
          <a:bodyPr wrap="none" rtlCol="0">
            <a:spAutoFit/>
          </a:bodyPr>
          <a:lstStyle/>
          <a:p>
            <a:r>
              <a:rPr lang="en-US" sz="1400" dirty="0" err="1"/>
              <a:t>Perif</a:t>
            </a:r>
            <a:r>
              <a:rPr lang="en-US" sz="1400" dirty="0"/>
              <a:t>.</a:t>
            </a:r>
          </a:p>
        </p:txBody>
      </p:sp>
      <p:grpSp>
        <p:nvGrpSpPr>
          <p:cNvPr id="22" name="Group 21">
            <a:extLst>
              <a:ext uri="{FF2B5EF4-FFF2-40B4-BE49-F238E27FC236}">
                <a16:creationId xmlns:a16="http://schemas.microsoft.com/office/drawing/2014/main" id="{F8BFEF8F-E103-87D3-7858-57922FFE246E}"/>
              </a:ext>
            </a:extLst>
          </p:cNvPr>
          <p:cNvGrpSpPr/>
          <p:nvPr/>
        </p:nvGrpSpPr>
        <p:grpSpPr>
          <a:xfrm>
            <a:off x="8334290" y="3591399"/>
            <a:ext cx="419921" cy="399834"/>
            <a:chOff x="7233044" y="2299538"/>
            <a:chExt cx="419921" cy="399834"/>
          </a:xfrm>
        </p:grpSpPr>
        <p:sp>
          <p:nvSpPr>
            <p:cNvPr id="8" name="TextBox 7">
              <a:extLst>
                <a:ext uri="{FF2B5EF4-FFF2-40B4-BE49-F238E27FC236}">
                  <a16:creationId xmlns:a16="http://schemas.microsoft.com/office/drawing/2014/main" id="{9AF3F13F-CE1B-AA47-D0EC-3233295050A1}"/>
                </a:ext>
              </a:extLst>
            </p:cNvPr>
            <p:cNvSpPr txBox="1"/>
            <p:nvPr/>
          </p:nvSpPr>
          <p:spPr>
            <a:xfrm>
              <a:off x="7233044" y="2330040"/>
              <a:ext cx="308098" cy="369332"/>
            </a:xfrm>
            <a:prstGeom prst="rect">
              <a:avLst/>
            </a:prstGeom>
            <a:noFill/>
          </p:spPr>
          <p:txBody>
            <a:bodyPr wrap="none" rtlCol="0">
              <a:spAutoFit/>
            </a:bodyPr>
            <a:lstStyle/>
            <a:p>
              <a:r>
                <a:rPr lang="en-US" dirty="0"/>
                <a:t>+</a:t>
              </a:r>
            </a:p>
          </p:txBody>
        </p:sp>
        <p:sp>
          <p:nvSpPr>
            <p:cNvPr id="15" name="TextBox 14">
              <a:extLst>
                <a:ext uri="{FF2B5EF4-FFF2-40B4-BE49-F238E27FC236}">
                  <a16:creationId xmlns:a16="http://schemas.microsoft.com/office/drawing/2014/main" id="{0EDB99F6-B379-FD4F-67E4-7346B8259995}"/>
                </a:ext>
              </a:extLst>
            </p:cNvPr>
            <p:cNvSpPr txBox="1"/>
            <p:nvPr/>
          </p:nvSpPr>
          <p:spPr>
            <a:xfrm>
              <a:off x="7389751" y="2299538"/>
              <a:ext cx="263214" cy="369332"/>
            </a:xfrm>
            <a:prstGeom prst="rect">
              <a:avLst/>
            </a:prstGeom>
            <a:noFill/>
          </p:spPr>
          <p:txBody>
            <a:bodyPr wrap="none" rtlCol="0">
              <a:spAutoFit/>
            </a:bodyPr>
            <a:lstStyle/>
            <a:p>
              <a:r>
                <a:rPr lang="en-US" dirty="0"/>
                <a:t>-</a:t>
              </a:r>
            </a:p>
          </p:txBody>
        </p:sp>
      </p:grpSp>
      <p:sp>
        <p:nvSpPr>
          <p:cNvPr id="16" name="TextBox 15">
            <a:extLst>
              <a:ext uri="{FF2B5EF4-FFF2-40B4-BE49-F238E27FC236}">
                <a16:creationId xmlns:a16="http://schemas.microsoft.com/office/drawing/2014/main" id="{059A4AD4-A9A4-C453-D505-F3AAB74391B1}"/>
              </a:ext>
            </a:extLst>
          </p:cNvPr>
          <p:cNvSpPr txBox="1"/>
          <p:nvPr/>
        </p:nvSpPr>
        <p:spPr>
          <a:xfrm>
            <a:off x="5440745" y="3813002"/>
            <a:ext cx="386644" cy="307777"/>
          </a:xfrm>
          <a:prstGeom prst="rect">
            <a:avLst/>
          </a:prstGeom>
          <a:noFill/>
        </p:spPr>
        <p:txBody>
          <a:bodyPr wrap="none" rtlCol="0">
            <a:spAutoFit/>
          </a:bodyPr>
          <a:lstStyle/>
          <a:p>
            <a:r>
              <a:rPr lang="en-US" sz="1400" dirty="0"/>
              <a:t>5V</a:t>
            </a:r>
          </a:p>
        </p:txBody>
      </p:sp>
      <p:sp>
        <p:nvSpPr>
          <p:cNvPr id="17" name="TextBox 16">
            <a:extLst>
              <a:ext uri="{FF2B5EF4-FFF2-40B4-BE49-F238E27FC236}">
                <a16:creationId xmlns:a16="http://schemas.microsoft.com/office/drawing/2014/main" id="{50E2FDCE-FB5E-D617-56A2-776A4EA043EE}"/>
              </a:ext>
            </a:extLst>
          </p:cNvPr>
          <p:cNvSpPr txBox="1"/>
          <p:nvPr/>
        </p:nvSpPr>
        <p:spPr>
          <a:xfrm>
            <a:off x="5357412" y="3979117"/>
            <a:ext cx="561372" cy="307777"/>
          </a:xfrm>
          <a:prstGeom prst="rect">
            <a:avLst/>
          </a:prstGeom>
          <a:noFill/>
        </p:spPr>
        <p:txBody>
          <a:bodyPr wrap="none" rtlCol="0">
            <a:spAutoFit/>
          </a:bodyPr>
          <a:lstStyle/>
          <a:p>
            <a:r>
              <a:rPr lang="en-US" sz="1400" dirty="0"/>
              <a:t>GND</a:t>
            </a:r>
          </a:p>
        </p:txBody>
      </p:sp>
      <p:sp>
        <p:nvSpPr>
          <p:cNvPr id="20" name="TextBox 19">
            <a:extLst>
              <a:ext uri="{FF2B5EF4-FFF2-40B4-BE49-F238E27FC236}">
                <a16:creationId xmlns:a16="http://schemas.microsoft.com/office/drawing/2014/main" id="{3458A993-6FD6-B106-5CD8-52B489222A6F}"/>
              </a:ext>
            </a:extLst>
          </p:cNvPr>
          <p:cNvSpPr txBox="1"/>
          <p:nvPr/>
        </p:nvSpPr>
        <p:spPr>
          <a:xfrm>
            <a:off x="4188927" y="4350516"/>
            <a:ext cx="1218091" cy="184666"/>
          </a:xfrm>
          <a:prstGeom prst="rect">
            <a:avLst/>
          </a:prstGeom>
          <a:solidFill>
            <a:schemeClr val="bg1"/>
          </a:solidFill>
        </p:spPr>
        <p:txBody>
          <a:bodyPr wrap="square" rtlCol="0">
            <a:spAutoFit/>
          </a:bodyPr>
          <a:lstStyle/>
          <a:p>
            <a:pPr algn="r"/>
            <a:r>
              <a:rPr lang="en-US" sz="600" dirty="0">
                <a:solidFill>
                  <a:srgbClr val="FF0000"/>
                </a:solidFill>
                <a:latin typeface="Arial Narrow" panose="020B0606020202030204" pitchFamily="34" charset="0"/>
              </a:rPr>
              <a:t>LED  A0 A1 A2 A3 A4 A5</a:t>
            </a:r>
          </a:p>
        </p:txBody>
      </p:sp>
      <p:sp>
        <p:nvSpPr>
          <p:cNvPr id="21" name="TextBox 20">
            <a:extLst>
              <a:ext uri="{FF2B5EF4-FFF2-40B4-BE49-F238E27FC236}">
                <a16:creationId xmlns:a16="http://schemas.microsoft.com/office/drawing/2014/main" id="{AFFCE726-6581-4A42-9279-EC0AFFC9E809}"/>
              </a:ext>
            </a:extLst>
          </p:cNvPr>
          <p:cNvSpPr txBox="1"/>
          <p:nvPr/>
        </p:nvSpPr>
        <p:spPr>
          <a:xfrm>
            <a:off x="5979996" y="4727283"/>
            <a:ext cx="891591" cy="184666"/>
          </a:xfrm>
          <a:prstGeom prst="rect">
            <a:avLst/>
          </a:prstGeom>
          <a:solidFill>
            <a:schemeClr val="bg1"/>
          </a:solidFill>
        </p:spPr>
        <p:txBody>
          <a:bodyPr wrap="none" rtlCol="0">
            <a:spAutoFit/>
          </a:bodyPr>
          <a:lstStyle/>
          <a:p>
            <a:r>
              <a:rPr lang="en-US" sz="600" dirty="0">
                <a:solidFill>
                  <a:srgbClr val="FF0000"/>
                </a:solidFill>
                <a:latin typeface="Arial Narrow" panose="020B0606020202030204" pitchFamily="34" charset="0"/>
              </a:rPr>
              <a:t>A5 A4 A3 A2 A1 A0 LED</a:t>
            </a:r>
          </a:p>
        </p:txBody>
      </p:sp>
      <p:sp>
        <p:nvSpPr>
          <p:cNvPr id="23" name="TextBox 22">
            <a:extLst>
              <a:ext uri="{FF2B5EF4-FFF2-40B4-BE49-F238E27FC236}">
                <a16:creationId xmlns:a16="http://schemas.microsoft.com/office/drawing/2014/main" id="{82BE1FC6-E3C4-4C81-79B8-0C07110A3679}"/>
              </a:ext>
            </a:extLst>
          </p:cNvPr>
          <p:cNvSpPr txBox="1"/>
          <p:nvPr/>
        </p:nvSpPr>
        <p:spPr>
          <a:xfrm>
            <a:off x="8266724" y="3468288"/>
            <a:ext cx="497252" cy="307777"/>
          </a:xfrm>
          <a:prstGeom prst="rect">
            <a:avLst/>
          </a:prstGeom>
          <a:noFill/>
        </p:spPr>
        <p:txBody>
          <a:bodyPr wrap="none" rtlCol="0">
            <a:spAutoFit/>
          </a:bodyPr>
          <a:lstStyle/>
          <a:p>
            <a:r>
              <a:rPr lang="en-US" sz="1400" dirty="0"/>
              <a:t>LED</a:t>
            </a:r>
          </a:p>
        </p:txBody>
      </p:sp>
    </p:spTree>
    <p:extLst>
      <p:ext uri="{BB962C8B-B14F-4D97-AF65-F5344CB8AC3E}">
        <p14:creationId xmlns:p14="http://schemas.microsoft.com/office/powerpoint/2010/main" val="16323139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TotalTime>
  <Words>1407</Words>
  <Application>Microsoft Office PowerPoint</Application>
  <PresentationFormat>On-screen Show (4:3)</PresentationFormat>
  <Paragraphs>154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Arial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Greytak, Andrew</dc:creator>
  <cp:lastModifiedBy>Greytak, Andrew</cp:lastModifiedBy>
  <cp:revision>6</cp:revision>
  <cp:lastPrinted>2024-12-07T01:54:06Z</cp:lastPrinted>
  <dcterms:created xsi:type="dcterms:W3CDTF">2024-11-27T18:01:18Z</dcterms:created>
  <dcterms:modified xsi:type="dcterms:W3CDTF">2024-12-07T15:14:19Z</dcterms:modified>
</cp:coreProperties>
</file>