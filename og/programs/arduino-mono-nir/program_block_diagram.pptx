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8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9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6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0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0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3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99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5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0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5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9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7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35488-FAAB-4362-B423-8E27B566B87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17A67-39E4-4465-AD48-44B6033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5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_0">
            <a:extLst>
              <a:ext uri="{FF2B5EF4-FFF2-40B4-BE49-F238E27FC236}">
                <a16:creationId xmlns:a16="http://schemas.microsoft.com/office/drawing/2014/main" id="{9A75DF34-8D6C-C50A-265B-53AB07E43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3" y="829945"/>
            <a:ext cx="6738938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4AAE4-5973-80BF-11FB-0AAC33653768}"/>
              </a:ext>
            </a:extLst>
          </p:cNvPr>
          <p:cNvSpPr txBox="1"/>
          <p:nvPr/>
        </p:nvSpPr>
        <p:spPr>
          <a:xfrm>
            <a:off x="6055360" y="1827381"/>
            <a:ext cx="308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We should define directions in wavelength = LONGER or SHORTER and then use #define to specify which of these is clockwise or counterclockwise for motor rotation.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11AD0-DF40-5C77-22E1-66FDFCAAC535}"/>
              </a:ext>
            </a:extLst>
          </p:cNvPr>
          <p:cNvSpPr txBox="1"/>
          <p:nvPr/>
        </p:nvSpPr>
        <p:spPr>
          <a:xfrm>
            <a:off x="6055360" y="2412156"/>
            <a:ext cx="308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We can debounce by polling switches with a 100-200 </a:t>
            </a:r>
            <a:r>
              <a:rPr lang="en-US" sz="800" dirty="0" err="1">
                <a:solidFill>
                  <a:srgbClr val="FF0000"/>
                </a:solidFill>
                <a:latin typeface="Consolas" panose="020B0609020204030204" pitchFamily="49" charset="0"/>
              </a:rPr>
              <a:t>ms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 “HOLDOFF” delay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70340-0EED-E62E-0B07-396CF16D058F}"/>
              </a:ext>
            </a:extLst>
          </p:cNvPr>
          <p:cNvSpPr txBox="1"/>
          <p:nvPr/>
        </p:nvSpPr>
        <p:spPr>
          <a:xfrm>
            <a:off x="6055360" y="2750710"/>
            <a:ext cx="308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All motor motions will be a loop in which only as many steps as can be done in HOLDOFF are carried out before checking switch input values.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34D40-FA20-DB79-0092-5D81D7A5F5EB}"/>
              </a:ext>
            </a:extLst>
          </p:cNvPr>
          <p:cNvSpPr txBox="1"/>
          <p:nvPr/>
        </p:nvSpPr>
        <p:spPr>
          <a:xfrm>
            <a:off x="6055360" y="377687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We will mainly keep track of progress with position variable as integer number of nm. A subroutine will calculate the change in Steps necessary for every move of nm, and LCD will be updated each move loop iteration.</a:t>
            </a:r>
          </a:p>
        </p:txBody>
      </p:sp>
    </p:spTree>
    <p:extLst>
      <p:ext uri="{BB962C8B-B14F-4D97-AF65-F5344CB8AC3E}">
        <p14:creationId xmlns:p14="http://schemas.microsoft.com/office/powerpoint/2010/main" val="327792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E2B4A-FFEC-B59C-621F-A210BDCB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8CEAC912-CBFC-3DA3-27EA-31FBBAE2DF34}"/>
              </a:ext>
            </a:extLst>
          </p:cNvPr>
          <p:cNvSpPr/>
          <p:nvPr/>
        </p:nvSpPr>
        <p:spPr>
          <a:xfrm>
            <a:off x="646722" y="1206940"/>
            <a:ext cx="6298251" cy="4695717"/>
          </a:xfrm>
          <a:prstGeom prst="rect">
            <a:avLst/>
          </a:prstGeom>
          <a:solidFill>
            <a:srgbClr val="A03232">
              <a:lumMod val="60000"/>
              <a:lumOff val="40000"/>
            </a:srgbClr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577F6B-BFAF-A652-1D35-584862B9E88F}"/>
              </a:ext>
            </a:extLst>
          </p:cNvPr>
          <p:cNvSpPr/>
          <p:nvPr/>
        </p:nvSpPr>
        <p:spPr>
          <a:xfrm>
            <a:off x="646723" y="463456"/>
            <a:ext cx="2774535" cy="521293"/>
          </a:xfrm>
          <a:prstGeom prst="rect">
            <a:avLst/>
          </a:prstGeom>
          <a:solidFill>
            <a:srgbClr val="A03232">
              <a:lumMod val="60000"/>
              <a:lumOff val="40000"/>
            </a:srgbClr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0502223-9108-9531-6667-73E1CFC8FB62}"/>
              </a:ext>
            </a:extLst>
          </p:cNvPr>
          <p:cNvSpPr/>
          <p:nvPr/>
        </p:nvSpPr>
        <p:spPr>
          <a:xfrm>
            <a:off x="1082559" y="1322807"/>
            <a:ext cx="4913795" cy="651654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F352166-589C-16D7-88D6-19DA9CEF03A4}"/>
              </a:ext>
            </a:extLst>
          </p:cNvPr>
          <p:cNvSpPr/>
          <p:nvPr/>
        </p:nvSpPr>
        <p:spPr>
          <a:xfrm>
            <a:off x="1089651" y="3002761"/>
            <a:ext cx="3016357" cy="2619228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111853E-8648-2F4E-207C-7210836AFEAC}"/>
              </a:ext>
            </a:extLst>
          </p:cNvPr>
          <p:cNvSpPr/>
          <p:nvPr/>
        </p:nvSpPr>
        <p:spPr>
          <a:xfrm>
            <a:off x="1648654" y="3223135"/>
            <a:ext cx="3650745" cy="521293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7223B68-7698-BD09-BE85-25A116C1015E}"/>
              </a:ext>
            </a:extLst>
          </p:cNvPr>
          <p:cNvSpPr/>
          <p:nvPr/>
        </p:nvSpPr>
        <p:spPr>
          <a:xfrm>
            <a:off x="2122555" y="3848762"/>
            <a:ext cx="4673900" cy="1636488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66761DB-8FB3-8869-1D66-B2BE9FDD7577}"/>
              </a:ext>
            </a:extLst>
          </p:cNvPr>
          <p:cNvSpPr/>
          <p:nvPr/>
        </p:nvSpPr>
        <p:spPr>
          <a:xfrm>
            <a:off x="3367339" y="4486822"/>
            <a:ext cx="3315697" cy="933704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BCC6B40-0591-861F-319C-D4F818E64658}"/>
              </a:ext>
            </a:extLst>
          </p:cNvPr>
          <p:cNvSpPr/>
          <p:nvPr/>
        </p:nvSpPr>
        <p:spPr>
          <a:xfrm>
            <a:off x="7309766" y="1382507"/>
            <a:ext cx="1492665" cy="1371391"/>
          </a:xfrm>
          <a:prstGeom prst="rect">
            <a:avLst/>
          </a:prstGeom>
          <a:solidFill>
            <a:srgbClr val="A03232">
              <a:lumMod val="60000"/>
              <a:lumOff val="40000"/>
            </a:srgbClr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17D4AAB-6199-E6C4-3FC1-DC76C782A64E}"/>
              </a:ext>
            </a:extLst>
          </p:cNvPr>
          <p:cNvSpPr/>
          <p:nvPr/>
        </p:nvSpPr>
        <p:spPr>
          <a:xfrm>
            <a:off x="7309765" y="3181897"/>
            <a:ext cx="1492665" cy="1104158"/>
          </a:xfrm>
          <a:prstGeom prst="rect">
            <a:avLst/>
          </a:prstGeom>
          <a:solidFill>
            <a:srgbClr val="A03232">
              <a:lumMod val="60000"/>
              <a:lumOff val="40000"/>
            </a:srgbClr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F9E2AFB-D9F4-7A21-FAB6-349C0C2900D9}"/>
              </a:ext>
            </a:extLst>
          </p:cNvPr>
          <p:cNvSpPr txBox="1"/>
          <p:nvPr/>
        </p:nvSpPr>
        <p:spPr>
          <a:xfrm>
            <a:off x="603989" y="435677"/>
            <a:ext cx="6335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setup()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2799B54-1874-2E66-8370-7B3778047537}"/>
              </a:ext>
            </a:extLst>
          </p:cNvPr>
          <p:cNvSpPr txBox="1"/>
          <p:nvPr/>
        </p:nvSpPr>
        <p:spPr>
          <a:xfrm>
            <a:off x="603989" y="1188934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loop()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648A5AA-178E-1AF8-7C96-2E59D6B71A91}"/>
              </a:ext>
            </a:extLst>
          </p:cNvPr>
          <p:cNvSpPr txBox="1"/>
          <p:nvPr/>
        </p:nvSpPr>
        <p:spPr>
          <a:xfrm>
            <a:off x="1024701" y="1285200"/>
            <a:ext cx="7299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initialize (home) flag is set (first run, or commanded):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B4A8B63-267D-86D7-4A12-596C3D321CD5}"/>
              </a:ext>
            </a:extLst>
          </p:cNvPr>
          <p:cNvSpPr/>
          <p:nvPr/>
        </p:nvSpPr>
        <p:spPr>
          <a:xfrm>
            <a:off x="1086189" y="2073705"/>
            <a:ext cx="4910165" cy="792477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E9ED57-2B8F-0836-2604-8E5601085EDC}"/>
              </a:ext>
            </a:extLst>
          </p:cNvPr>
          <p:cNvSpPr txBox="1"/>
          <p:nvPr/>
        </p:nvSpPr>
        <p:spPr>
          <a:xfrm>
            <a:off x="1102210" y="2025918"/>
            <a:ext cx="21723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9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autoManual</a:t>
            </a:r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true, manual mode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23E08DF-5C8C-8942-D2A9-A47658DE5D2B}"/>
              </a:ext>
            </a:extLst>
          </p:cNvPr>
          <p:cNvSpPr txBox="1"/>
          <p:nvPr/>
        </p:nvSpPr>
        <p:spPr>
          <a:xfrm>
            <a:off x="1126774" y="3002761"/>
            <a:ext cx="21082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automanual false, auto mode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37AB263-A688-C1BB-B351-3FCF98FB44B0}"/>
              </a:ext>
            </a:extLst>
          </p:cNvPr>
          <p:cNvSpPr txBox="1"/>
          <p:nvPr/>
        </p:nvSpPr>
        <p:spPr>
          <a:xfrm>
            <a:off x="1645991" y="3183669"/>
            <a:ext cx="31341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 auto run setup: Display and update settings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65FD6D3-6B91-6432-1BD5-A090B66334A1}"/>
              </a:ext>
            </a:extLst>
          </p:cNvPr>
          <p:cNvSpPr txBox="1"/>
          <p:nvPr/>
        </p:nvSpPr>
        <p:spPr>
          <a:xfrm>
            <a:off x="2076812" y="3809296"/>
            <a:ext cx="15953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 auto run: Main Loop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A072087-84E5-EA9B-970E-AE70055C9E50}"/>
              </a:ext>
            </a:extLst>
          </p:cNvPr>
          <p:cNvSpPr txBox="1"/>
          <p:nvPr/>
        </p:nvSpPr>
        <p:spPr>
          <a:xfrm>
            <a:off x="3333249" y="4462011"/>
            <a:ext cx="15953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 auto run: Scan loop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14A38DE-C916-FF77-4AAF-E264D912314D}"/>
              </a:ext>
            </a:extLst>
          </p:cNvPr>
          <p:cNvSpPr txBox="1"/>
          <p:nvPr/>
        </p:nvSpPr>
        <p:spPr>
          <a:xfrm>
            <a:off x="534872" y="0"/>
            <a:ext cx="82638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Power on; possible separate power switch for motor/driver output to enable it to be shut off / cooled without resetting Arduino</a:t>
            </a:r>
          </a:p>
        </p:txBody>
      </p:sp>
      <p:sp>
        <p:nvSpPr>
          <p:cNvPr id="110" name="Arrow: Down 109">
            <a:extLst>
              <a:ext uri="{FF2B5EF4-FFF2-40B4-BE49-F238E27FC236}">
                <a16:creationId xmlns:a16="http://schemas.microsoft.com/office/drawing/2014/main" id="{82004ED7-9CBA-1226-77FD-E8F1B764DBD3}"/>
              </a:ext>
            </a:extLst>
          </p:cNvPr>
          <p:cNvSpPr/>
          <p:nvPr/>
        </p:nvSpPr>
        <p:spPr>
          <a:xfrm>
            <a:off x="1237496" y="230832"/>
            <a:ext cx="143109" cy="147436"/>
          </a:xfrm>
          <a:prstGeom prst="downArrow">
            <a:avLst/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Arrow: Down 110">
            <a:extLst>
              <a:ext uri="{FF2B5EF4-FFF2-40B4-BE49-F238E27FC236}">
                <a16:creationId xmlns:a16="http://schemas.microsoft.com/office/drawing/2014/main" id="{C73C601B-B4D6-A422-9ED9-08BBD0419916}"/>
              </a:ext>
            </a:extLst>
          </p:cNvPr>
          <p:cNvSpPr/>
          <p:nvPr/>
        </p:nvSpPr>
        <p:spPr>
          <a:xfrm>
            <a:off x="1216473" y="1027240"/>
            <a:ext cx="143109" cy="147436"/>
          </a:xfrm>
          <a:prstGeom prst="downArrow">
            <a:avLst/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69DFD9-994A-F42C-7B79-AB80BEDAFD10}"/>
              </a:ext>
            </a:extLst>
          </p:cNvPr>
          <p:cNvSpPr/>
          <p:nvPr/>
        </p:nvSpPr>
        <p:spPr>
          <a:xfrm>
            <a:off x="1079894" y="642523"/>
            <a:ext cx="1492665" cy="287609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611F06-42AB-EF76-8D2F-3D513AE34364}"/>
              </a:ext>
            </a:extLst>
          </p:cNvPr>
          <p:cNvSpPr txBox="1"/>
          <p:nvPr/>
        </p:nvSpPr>
        <p:spPr>
          <a:xfrm>
            <a:off x="1077229" y="59712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Setup pins, LCD</a:t>
            </a:r>
          </a:p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motor speed</a:t>
            </a:r>
          </a:p>
        </p:txBody>
      </p:sp>
      <p:sp>
        <p:nvSpPr>
          <p:cNvPr id="114" name="Arrow: Down 113">
            <a:extLst>
              <a:ext uri="{FF2B5EF4-FFF2-40B4-BE49-F238E27FC236}">
                <a16:creationId xmlns:a16="http://schemas.microsoft.com/office/drawing/2014/main" id="{7D594D32-8499-2BD9-97A3-F59DC0DDEDAE}"/>
              </a:ext>
            </a:extLst>
          </p:cNvPr>
          <p:cNvSpPr/>
          <p:nvPr/>
        </p:nvSpPr>
        <p:spPr>
          <a:xfrm>
            <a:off x="1380605" y="1941232"/>
            <a:ext cx="135119" cy="172411"/>
          </a:xfrm>
          <a:prstGeom prst="downArrow">
            <a:avLst/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6" name="Arrow: Bent 125">
            <a:extLst>
              <a:ext uri="{FF2B5EF4-FFF2-40B4-BE49-F238E27FC236}">
                <a16:creationId xmlns:a16="http://schemas.microsoft.com/office/drawing/2014/main" id="{CC8D0118-8549-EF2C-6A65-107A71205035}"/>
              </a:ext>
            </a:extLst>
          </p:cNvPr>
          <p:cNvSpPr/>
          <p:nvPr/>
        </p:nvSpPr>
        <p:spPr>
          <a:xfrm rot="16200000">
            <a:off x="-1279776" y="3447877"/>
            <a:ext cx="4295329" cy="313623"/>
          </a:xfrm>
          <a:prstGeom prst="bentArrow">
            <a:avLst>
              <a:gd name="adj1" fmla="val 10827"/>
              <a:gd name="adj2" fmla="val 30062"/>
              <a:gd name="adj3" fmla="val 25000"/>
              <a:gd name="adj4" fmla="val 43750"/>
            </a:avLst>
          </a:prstGeom>
          <a:noFill/>
          <a:ln w="19050" cap="flat" cmpd="sng" algn="ctr">
            <a:solidFill>
              <a:srgbClr val="009100">
                <a:lumMod val="40000"/>
                <a:lumOff val="60000"/>
              </a:srgb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2353C3-D398-F25C-B5E3-48B24B3DF76F}"/>
              </a:ext>
            </a:extLst>
          </p:cNvPr>
          <p:cNvSpPr txBox="1"/>
          <p:nvPr/>
        </p:nvSpPr>
        <p:spPr>
          <a:xfrm>
            <a:off x="7276328" y="1361959"/>
            <a:ext cx="1146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positionSteps</a:t>
            </a:r>
            <a:r>
              <a:rPr lang="en-US" sz="900" b="1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4A798E8-7312-0896-B145-D30D78027BB7}"/>
              </a:ext>
            </a:extLst>
          </p:cNvPr>
          <p:cNvSpPr txBox="1"/>
          <p:nvPr/>
        </p:nvSpPr>
        <p:spPr>
          <a:xfrm>
            <a:off x="7308016" y="1538970"/>
            <a:ext cx="14926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Returns the number of steps from home to reach a desired wavelength </a:t>
            </a:r>
            <a:r>
              <a:rPr lang="en-US" sz="900" b="1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</a:t>
            </a:r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nm, based on lookup table or calibration function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6CDFDED-E8F2-AA2F-FA4B-076131AEB07B}"/>
              </a:ext>
            </a:extLst>
          </p:cNvPr>
          <p:cNvSpPr txBox="1"/>
          <p:nvPr/>
        </p:nvSpPr>
        <p:spPr>
          <a:xfrm>
            <a:off x="7296110" y="3167296"/>
            <a:ext cx="8899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moveSteps</a:t>
            </a:r>
            <a:r>
              <a:rPr lang="en-US" sz="900" b="1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E11A0CC-EDE5-BB6E-AEC4-7C835CBD5ABE}"/>
              </a:ext>
            </a:extLst>
          </p:cNvPr>
          <p:cNvSpPr txBox="1"/>
          <p:nvPr/>
        </p:nvSpPr>
        <p:spPr>
          <a:xfrm>
            <a:off x="7308016" y="3371774"/>
            <a:ext cx="1492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 a number of steps forward or backward at the desired speed while polling limit1, limit2/</a:t>
            </a:r>
            <a:r>
              <a:rPr lang="en-US" sz="9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stopreset</a:t>
            </a:r>
            <a:endParaRPr lang="en-US" sz="900" dirty="0">
              <a:solidFill>
                <a:srgbClr val="009100">
                  <a:lumMod val="60000"/>
                  <a:lumOff val="40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53C7FF6-D656-5F0F-D62D-C2AF06076C8A}"/>
              </a:ext>
            </a:extLst>
          </p:cNvPr>
          <p:cNvSpPr txBox="1"/>
          <p:nvPr/>
        </p:nvSpPr>
        <p:spPr>
          <a:xfrm>
            <a:off x="7217240" y="1028485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Subroutines: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4D8E535-F433-F679-DC13-5A7AB1E5BA5C}"/>
              </a:ext>
            </a:extLst>
          </p:cNvPr>
          <p:cNvSpPr txBox="1"/>
          <p:nvPr/>
        </p:nvSpPr>
        <p:spPr>
          <a:xfrm>
            <a:off x="1150469" y="1432804"/>
            <a:ext cx="4913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Ask user if we should initialize; possibly other config options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commanded, initialize: run backward until limit switch, then forward slow to disengage limit switch, then define position and run forward to starting position target; un-set initialize flag 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E907D7F-821A-DD64-7AFA-4A619D52F743}"/>
              </a:ext>
            </a:extLst>
          </p:cNvPr>
          <p:cNvSpPr txBox="1"/>
          <p:nvPr/>
        </p:nvSpPr>
        <p:spPr>
          <a:xfrm>
            <a:off x="1161936" y="2165100"/>
            <a:ext cx="5374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position_target</a:t>
            </a: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loop: user selects position target; </a:t>
            </a:r>
            <a:r>
              <a:rPr lang="en-US" sz="8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startnext</a:t>
            </a: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or </a:t>
            </a:r>
            <a:r>
              <a:rPr lang="en-US" sz="8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autoManual</a:t>
            </a: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 break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 flags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 new position was selected, move until correct position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check </a:t>
            </a: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9100">
                  <a:lumMod val="60000"/>
                  <a:lumOff val="4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35" name="Arrow: Down 134">
            <a:extLst>
              <a:ext uri="{FF2B5EF4-FFF2-40B4-BE49-F238E27FC236}">
                <a16:creationId xmlns:a16="http://schemas.microsoft.com/office/drawing/2014/main" id="{20462320-AE10-F0E3-BBF1-8083D24FD82C}"/>
              </a:ext>
            </a:extLst>
          </p:cNvPr>
          <p:cNvSpPr/>
          <p:nvPr/>
        </p:nvSpPr>
        <p:spPr>
          <a:xfrm>
            <a:off x="1380604" y="2840656"/>
            <a:ext cx="135119" cy="172411"/>
          </a:xfrm>
          <a:prstGeom prst="downArrow">
            <a:avLst/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6FE4768-C175-C7A3-6BD7-5CC8D9AB03E0}"/>
              </a:ext>
            </a:extLst>
          </p:cNvPr>
          <p:cNvSpPr txBox="1"/>
          <p:nvPr/>
        </p:nvSpPr>
        <p:spPr>
          <a:xfrm>
            <a:off x="1726746" y="3331364"/>
            <a:ext cx="5374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 start, end, speed, number of scans; break on automanual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Check flags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EE2F19C-F907-F7CC-2F9B-8A4FAC545202}"/>
              </a:ext>
            </a:extLst>
          </p:cNvPr>
          <p:cNvSpPr txBox="1"/>
          <p:nvPr/>
        </p:nvSpPr>
        <p:spPr>
          <a:xfrm>
            <a:off x="2830384" y="3972669"/>
            <a:ext cx="3966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not at starting position, Move backwards to start, including backlash corr. Check flags. Display ready.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AF6ADC6-C3AA-11F3-4BAC-B7040754C388}"/>
              </a:ext>
            </a:extLst>
          </p:cNvPr>
          <p:cNvSpPr txBox="1"/>
          <p:nvPr/>
        </p:nvSpPr>
        <p:spPr>
          <a:xfrm>
            <a:off x="3435811" y="4589529"/>
            <a:ext cx="3100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 while # scans is not completed: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Blink LED / TTL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Move forwards to 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C</a:t>
            </a: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heck flags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Return to starting position, with backlash corr.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 scan complete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9100">
                  <a:lumMod val="60000"/>
                  <a:lumOff val="4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BC9C129-A34B-FDD8-A0DB-32BE538F5499}"/>
              </a:ext>
            </a:extLst>
          </p:cNvPr>
          <p:cNvSpPr txBox="1"/>
          <p:nvPr/>
        </p:nvSpPr>
        <p:spPr>
          <a:xfrm>
            <a:off x="1161936" y="5406545"/>
            <a:ext cx="53745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9100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</a:t>
            </a: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heck flags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9100">
                  <a:lumMod val="60000"/>
                  <a:lumOff val="4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80DD795-4106-F26F-5069-6EB19E640590}"/>
              </a:ext>
            </a:extLst>
          </p:cNvPr>
          <p:cNvSpPr/>
          <p:nvPr/>
        </p:nvSpPr>
        <p:spPr>
          <a:xfrm>
            <a:off x="2199026" y="3707659"/>
            <a:ext cx="143109" cy="147436"/>
          </a:xfrm>
          <a:prstGeom prst="downArrow">
            <a:avLst/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627C031A-47A8-6E99-4DDE-60C610B93D6F}"/>
              </a:ext>
            </a:extLst>
          </p:cNvPr>
          <p:cNvSpPr/>
          <p:nvPr/>
        </p:nvSpPr>
        <p:spPr>
          <a:xfrm>
            <a:off x="1695439" y="3718604"/>
            <a:ext cx="102042" cy="1604559"/>
          </a:xfrm>
          <a:prstGeom prst="downArrow">
            <a:avLst/>
          </a:prstGeom>
          <a:noFill/>
          <a:ln w="19050" cap="flat" cmpd="sng" algn="ctr">
            <a:solidFill>
              <a:srgbClr val="009100">
                <a:lumMod val="40000"/>
                <a:lumOff val="60000"/>
              </a:srgb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" name="Arrow: Down 121">
            <a:extLst>
              <a:ext uri="{FF2B5EF4-FFF2-40B4-BE49-F238E27FC236}">
                <a16:creationId xmlns:a16="http://schemas.microsoft.com/office/drawing/2014/main" id="{7043D364-CC81-10B1-F69D-AD195D2DBC41}"/>
              </a:ext>
            </a:extLst>
          </p:cNvPr>
          <p:cNvSpPr/>
          <p:nvPr/>
        </p:nvSpPr>
        <p:spPr>
          <a:xfrm>
            <a:off x="3146960" y="4528183"/>
            <a:ext cx="102042" cy="980284"/>
          </a:xfrm>
          <a:prstGeom prst="downArrow">
            <a:avLst/>
          </a:prstGeom>
          <a:noFill/>
          <a:ln w="19050" cap="flat" cmpd="sng" algn="ctr">
            <a:solidFill>
              <a:srgbClr val="009100">
                <a:lumMod val="40000"/>
                <a:lumOff val="60000"/>
              </a:srgb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6" name="Arrow: Bent 145">
            <a:extLst>
              <a:ext uri="{FF2B5EF4-FFF2-40B4-BE49-F238E27FC236}">
                <a16:creationId xmlns:a16="http://schemas.microsoft.com/office/drawing/2014/main" id="{C96D4C6F-FEFA-C42D-ED0B-93402122B488}"/>
              </a:ext>
            </a:extLst>
          </p:cNvPr>
          <p:cNvSpPr/>
          <p:nvPr/>
        </p:nvSpPr>
        <p:spPr>
          <a:xfrm rot="16200000">
            <a:off x="2167452" y="4591401"/>
            <a:ext cx="1257955" cy="313623"/>
          </a:xfrm>
          <a:prstGeom prst="bentArrow">
            <a:avLst>
              <a:gd name="adj1" fmla="val 10827"/>
              <a:gd name="adj2" fmla="val 30062"/>
              <a:gd name="adj3" fmla="val 25000"/>
              <a:gd name="adj4" fmla="val 43750"/>
            </a:avLst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2B88251-C931-358B-C79C-F49640751C1C}"/>
              </a:ext>
            </a:extLst>
          </p:cNvPr>
          <p:cNvSpPr/>
          <p:nvPr/>
        </p:nvSpPr>
        <p:spPr>
          <a:xfrm>
            <a:off x="3032391" y="4271378"/>
            <a:ext cx="3650645" cy="161685"/>
          </a:xfrm>
          <a:prstGeom prst="rect">
            <a:avLst/>
          </a:prstGeom>
          <a:solidFill>
            <a:srgbClr val="A03232"/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A9FF274-332F-9566-484F-838C0ABDC219}"/>
              </a:ext>
            </a:extLst>
          </p:cNvPr>
          <p:cNvSpPr txBox="1"/>
          <p:nvPr/>
        </p:nvSpPr>
        <p:spPr>
          <a:xfrm>
            <a:off x="3021550" y="4248161"/>
            <a:ext cx="39660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Wait on start key, break on </a:t>
            </a:r>
            <a:r>
              <a:rPr lang="en-US" sz="8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stopreset</a:t>
            </a:r>
            <a:r>
              <a:rPr lang="en-US" sz="8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or </a:t>
            </a:r>
            <a:r>
              <a:rPr lang="en-US" sz="800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autoManual</a:t>
            </a:r>
            <a:endParaRPr lang="en-US" sz="800" dirty="0">
              <a:solidFill>
                <a:srgbClr val="009100">
                  <a:lumMod val="60000"/>
                  <a:lumOff val="40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4" name="Arrow: Down 143">
            <a:extLst>
              <a:ext uri="{FF2B5EF4-FFF2-40B4-BE49-F238E27FC236}">
                <a16:creationId xmlns:a16="http://schemas.microsoft.com/office/drawing/2014/main" id="{195F1135-EA75-B572-2E46-14690109F35B}"/>
              </a:ext>
            </a:extLst>
          </p:cNvPr>
          <p:cNvSpPr/>
          <p:nvPr/>
        </p:nvSpPr>
        <p:spPr>
          <a:xfrm>
            <a:off x="5276817" y="4413145"/>
            <a:ext cx="143109" cy="147436"/>
          </a:xfrm>
          <a:prstGeom prst="downArrow">
            <a:avLst/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Arrow: Down 148">
            <a:extLst>
              <a:ext uri="{FF2B5EF4-FFF2-40B4-BE49-F238E27FC236}">
                <a16:creationId xmlns:a16="http://schemas.microsoft.com/office/drawing/2014/main" id="{41E275C3-4CED-B072-E4C6-32AD7EDB69F9}"/>
              </a:ext>
            </a:extLst>
          </p:cNvPr>
          <p:cNvSpPr/>
          <p:nvPr/>
        </p:nvSpPr>
        <p:spPr>
          <a:xfrm>
            <a:off x="5276817" y="4187478"/>
            <a:ext cx="143109" cy="147436"/>
          </a:xfrm>
          <a:prstGeom prst="downArrow">
            <a:avLst/>
          </a:prstGeom>
          <a:solidFill>
            <a:srgbClr val="19E619"/>
          </a:solidFill>
          <a:ln w="25400" cap="flat" cmpd="sng" algn="ctr">
            <a:solidFill>
              <a:srgbClr val="19E61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35DA756-E863-F0AC-5718-B6F4986CF51D}"/>
              </a:ext>
            </a:extLst>
          </p:cNvPr>
          <p:cNvSpPr txBox="1"/>
          <p:nvPr/>
        </p:nvSpPr>
        <p:spPr>
          <a:xfrm>
            <a:off x="7217239" y="2875378"/>
            <a:ext cx="15311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Possible Subroutines: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D3FCEE1-E28C-47AB-60F0-23DC45161818}"/>
              </a:ext>
            </a:extLst>
          </p:cNvPr>
          <p:cNvSpPr/>
          <p:nvPr/>
        </p:nvSpPr>
        <p:spPr>
          <a:xfrm>
            <a:off x="7321490" y="4521259"/>
            <a:ext cx="1492665" cy="1390206"/>
          </a:xfrm>
          <a:prstGeom prst="rect">
            <a:avLst/>
          </a:prstGeom>
          <a:solidFill>
            <a:srgbClr val="A03232">
              <a:lumMod val="60000"/>
              <a:lumOff val="40000"/>
            </a:srgbClr>
          </a:solidFill>
          <a:ln w="25400" cap="flat" cmpd="sng" algn="ctr">
            <a:solidFill>
              <a:srgbClr val="A0323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E0A9723-E0CA-BE5E-9149-25147940AC0F}"/>
              </a:ext>
            </a:extLst>
          </p:cNvPr>
          <p:cNvSpPr txBox="1"/>
          <p:nvPr/>
        </p:nvSpPr>
        <p:spPr>
          <a:xfrm>
            <a:off x="7307835" y="4506658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900" b="1" dirty="0" err="1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resetPress</a:t>
            </a:r>
            <a:r>
              <a:rPr lang="en-US" sz="900" b="1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622F79C-0FCB-15BC-4526-B928BEEECA45}"/>
              </a:ext>
            </a:extLst>
          </p:cNvPr>
          <p:cNvSpPr txBox="1"/>
          <p:nvPr/>
        </p:nvSpPr>
        <p:spPr>
          <a:xfrm>
            <a:off x="7319741" y="4711136"/>
            <a:ext cx="1492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00" dirty="0">
                <a:solidFill>
                  <a:srgbClr val="009100">
                    <a:lumMod val="60000"/>
                    <a:lumOff val="4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possible subroutine to start a counter when reset is pressed and check if it is held down a long time, prompting initialize flag to be set</a:t>
            </a:r>
          </a:p>
        </p:txBody>
      </p:sp>
    </p:spTree>
    <p:extLst>
      <p:ext uri="{BB962C8B-B14F-4D97-AF65-F5344CB8AC3E}">
        <p14:creationId xmlns:p14="http://schemas.microsoft.com/office/powerpoint/2010/main" val="114408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436</Words>
  <Application>Microsoft Office PowerPoint</Application>
  <PresentationFormat>On-screen Show (4:3)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Greytak, Andrew</dc:creator>
  <cp:lastModifiedBy>Greytak, Andrew</cp:lastModifiedBy>
  <cp:revision>4</cp:revision>
  <dcterms:created xsi:type="dcterms:W3CDTF">2024-11-09T14:01:06Z</dcterms:created>
  <dcterms:modified xsi:type="dcterms:W3CDTF">2024-11-19T22:11:51Z</dcterms:modified>
</cp:coreProperties>
</file>